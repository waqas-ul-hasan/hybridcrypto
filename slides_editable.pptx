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532" y="1091153"/>
            <a:ext cx="1046261" cy="1104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6000">
                <a:solidFill>
                  <a:srgbClr val="F0F6FC"/>
                </a:solidFill>
              </a:defRPr>
            </a:pPr>
            <a:r>
              <a:t>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0862" y="2404616"/>
            <a:ext cx="8165453" cy="1268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4200" b="1">
                <a:solidFill>
                  <a:srgbClr val="F0F6FC"/>
                </a:solidFill>
              </a:defRPr>
            </a:pPr>
            <a:r>
              <a:t>Secure File Encryption System</a:t>
            </a:r>
            <a:br/>
            <a:r>
              <a:t>using Hybrid Cryptography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2242" y="3730376"/>
            <a:ext cx="3702694" cy="4513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50">
                <a:solidFill>
                  <a:srgbClr val="8B949E"/>
                </a:solidFill>
              </a:defRPr>
            </a:pPr>
            <a:r>
              <a:t>Information Security — Group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69995" y="4391322"/>
            <a:ext cx="935235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58A6FF"/>
                </a:solidFill>
              </a:defRPr>
            </a:pPr>
            <a:r>
              <a:t>RSA-2048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19531" y="4391322"/>
            <a:ext cx="1178867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E3B341"/>
                </a:solidFill>
              </a:defRPr>
            </a:pPr>
            <a:r>
              <a:t>AES-256-CBC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12698" y="4391322"/>
            <a:ext cx="1254323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3FB950"/>
                </a:solidFill>
              </a:defRPr>
            </a:pPr>
            <a:r>
              <a:t>HMAC-SHA256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1321" y="4391322"/>
            <a:ext cx="1656010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BC8CFF"/>
                </a:solidFill>
              </a:defRPr>
            </a:pPr>
            <a:r>
              <a:t>PYQT6 DESKTOP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41420" y="5410497"/>
            <a:ext cx="5424338" cy="3381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25">
                <a:solidFill>
                  <a:srgbClr val="8B949E"/>
                </a:solidFill>
              </a:defRPr>
            </a:pPr>
            <a:r>
              <a:t>Presented by: Waqas Ul Hasan (FA23-BCS-167) &amp; Qurat Ul ain (FA23-BCS-195)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1999" y="1253132"/>
            <a:ext cx="1289000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58A6FF"/>
                </a:solidFill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605557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The Problem: Secure File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924" y="3224807"/>
            <a:ext cx="3105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t>Data in Transit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924" y="3577232"/>
            <a:ext cx="3105149" cy="920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75">
                <a:solidFill>
                  <a:srgbClr val="8B949E"/>
                </a:solidFill>
              </a:defRPr>
            </a:pPr>
            <a:r>
              <a:t>Files sent over networks can be intercepted by attackers using packet sniffing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43424" y="3224807"/>
            <a:ext cx="3105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t>Data at Rest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3424" y="3577232"/>
            <a:ext cx="3105149" cy="920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75">
                <a:solidFill>
                  <a:srgbClr val="8B949E"/>
                </a:solidFill>
              </a:defRPr>
            </a:pPr>
            <a:r>
              <a:t>Files stored on disk are vulnerable if a system is compromised or storage is stolen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2924" y="3224807"/>
            <a:ext cx="3105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t>Key 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2924" y="3577232"/>
            <a:ext cx="3105149" cy="920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75">
                <a:solidFill>
                  <a:srgbClr val="8B949E"/>
                </a:solidFill>
              </a:defRPr>
            </a:pPr>
            <a:r>
              <a:t>Symmetric encryption alone can't securely share the secret key between parties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4" y="5107632"/>
            <a:ext cx="10115549" cy="3542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>
                <a:solidFill>
                  <a:srgbClr val="8B949E"/>
                </a:solidFill>
              </a:defRPr>
            </a:pPr>
            <a:r>
              <a:t>Solution: Combine symmetric speed with asymmetric security — Hybrid Cryptography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1999" y="952500"/>
            <a:ext cx="813643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BC8CFF"/>
                </a:solidFill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304925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Why Hybrid Cryptography?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4" y="2305050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E3B341"/>
                </a:solidFill>
              </a:defRPr>
            </a:pPr>
            <a:r>
              <a:t>AES (Symmetric)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224" y="2695575"/>
            <a:ext cx="4629149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✅ Extremely fast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4" y="3071812"/>
            <a:ext cx="462914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✅ Handles any file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4" y="3452812"/>
            <a:ext cx="462914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✅ Low CPU overhead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8224" y="3833812"/>
            <a:ext cx="462914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❌ Key distribution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4" y="4214812"/>
            <a:ext cx="4629149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❌ Both parties need same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24" y="2305050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RSA (Asymmetric)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4624" y="2695575"/>
            <a:ext cx="4629149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✅ Solves key distribution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4624" y="3071812"/>
            <a:ext cx="462914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✅ Public key freely shared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4624" y="3452812"/>
            <a:ext cx="462914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✅ Private key never transmitted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4624" y="3833812"/>
            <a:ext cx="462914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❌ Slow — can't encrypt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624" y="4214812"/>
            <a:ext cx="4629149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❌ Limited data size (~214 bytes)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5396" y="5295900"/>
            <a:ext cx="1081236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75" b="1">
                <a:solidFill>
                  <a:srgbClr val="58A6FF"/>
                </a:solidFill>
              </a:defRPr>
            </a:pPr>
            <a:r>
              <a:t>📄 File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9532" y="5300662"/>
            <a:ext cx="139317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75" b="1">
                <a:solidFill>
                  <a:srgbClr val="58A6FF"/>
                </a:solidFill>
              </a:defRPr>
            </a:pPr>
            <a:r>
              <a:t>AES-256 Encrypt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5612" y="5295900"/>
            <a:ext cx="1193899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75" b="1">
                <a:solidFill>
                  <a:srgbClr val="58A6FF"/>
                </a:solidFill>
              </a:defRPr>
            </a:pPr>
            <a:r>
              <a:t>🔒 Ciphertext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712" y="5295900"/>
            <a:ext cx="1019770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75" b="1">
                <a:solidFill>
                  <a:srgbClr val="58A6FF"/>
                </a:solidFill>
              </a:defRPr>
            </a:pPr>
            <a:r>
              <a:t>🗝 AES Key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0382" y="5300662"/>
            <a:ext cx="148203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75" b="1">
                <a:solidFill>
                  <a:srgbClr val="58A6FF"/>
                </a:solidFill>
              </a:defRPr>
            </a:pPr>
            <a:r>
              <a:t>RSA-2048 Encrypt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5312" y="5295900"/>
            <a:ext cx="1271140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75" b="1">
                <a:solidFill>
                  <a:srgbClr val="58A6FF"/>
                </a:solidFill>
              </a:defRPr>
            </a:pPr>
            <a:r>
              <a:t>📦 .enc Bundle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1999" y="1006375"/>
            <a:ext cx="1297483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E3B341"/>
                </a:solidFill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358800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Cryptographic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6762" y="2125563"/>
            <a:ext cx="1622226" cy="4905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t>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88988" y="2125563"/>
            <a:ext cx="2039838" cy="4905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t>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8826" y="2125563"/>
            <a:ext cx="1642020" cy="4905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t>Key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0847" y="2125563"/>
            <a:ext cx="2263824" cy="4905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t>Mode/Variant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4671" y="2125563"/>
            <a:ext cx="3090564" cy="4905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t>Purpose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6762" y="2520850"/>
            <a:ext cx="1622226" cy="4619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AES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8988" y="2520850"/>
            <a:ext cx="2039838" cy="4619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Symmetric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8826" y="2520850"/>
            <a:ext cx="1642020" cy="4619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256-bit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0847" y="2520850"/>
            <a:ext cx="2263824" cy="4619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CBC + PKCS7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4671" y="2520850"/>
            <a:ext cx="3090564" cy="4619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Encrypt file content (fast)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6762" y="2887563"/>
            <a:ext cx="1622226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RSA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8988" y="2887563"/>
            <a:ext cx="2039838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Asymmetric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826" y="2887563"/>
            <a:ext cx="1642020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2048-bit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0847" y="2887563"/>
            <a:ext cx="2263824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OAEP + SHA-256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4671" y="2887563"/>
            <a:ext cx="3090564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Encrypt AES session 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762" y="3259038"/>
            <a:ext cx="1622226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HMAC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8988" y="3259038"/>
            <a:ext cx="2039838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MAC / Integrity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8826" y="3259038"/>
            <a:ext cx="1642020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256-bit tag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0847" y="3259038"/>
            <a:ext cx="2263824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SHA-256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671" y="3259038"/>
            <a:ext cx="3090564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Detect tampering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762" y="3630513"/>
            <a:ext cx="1622226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IV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88988" y="3630513"/>
            <a:ext cx="2039838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Randomness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8826" y="3630513"/>
            <a:ext cx="1642020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128-bit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0847" y="3630513"/>
            <a:ext cx="2263824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CSPRNG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4671" y="3630513"/>
            <a:ext cx="3090564" cy="4667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Prevent pattern leakage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8224" y="4435375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OAEP Padding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8224" y="4787800"/>
            <a:ext cx="4629149" cy="920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75">
                <a:solidFill>
                  <a:srgbClr val="8B949E"/>
                </a:solidFill>
              </a:defRPr>
            </a:pPr>
            <a:r>
              <a:t>Optimal Asymmetric Encryption Padding adds randomness to RSA, preventing deterministic outputs and chosen-ciphertext attacks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24624" y="4435375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3FB950"/>
                </a:solidFill>
              </a:defRPr>
            </a:pPr>
            <a:r>
              <a:t>Encrypt-then-MAC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4624" y="4787800"/>
            <a:ext cx="4629149" cy="920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75">
                <a:solidFill>
                  <a:srgbClr val="8B949E"/>
                </a:solidFill>
              </a:defRPr>
            </a:pPr>
            <a:r>
              <a:t>HMAC is computed over ciphertext after encryption — provably secure ordering that detects tampering before decryption begins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1999" y="603795"/>
            <a:ext cx="1445567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3FB950"/>
                </a:solidFill>
              </a:defRPr>
            </a:pPr>
            <a: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956220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999" y="1718220"/>
            <a:ext cx="5181599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🔒 Encryption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399" y="1718220"/>
            <a:ext cx="518159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3FB950"/>
                </a:solidFill>
              </a:defRPr>
            </a:pPr>
            <a:r>
              <a:t>.enc File Format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48399" y="2146845"/>
            <a:ext cx="5181599" cy="32986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>
                <a:solidFill>
                  <a:srgbClr val="E6EDF3"/>
                </a:solidFill>
              </a:defRPr>
            </a:pPr>
            <a:r>
              <a:t>┌─────────────────────────────┐</a:t>
            </a:r>
            <a:br/>
            <a:r>
              <a:t>│  MAGIC HEADER   (8 bytes)  │</a:t>
            </a:r>
            <a:br/>
            <a:r>
              <a:t>├─────────────────────────────┤</a:t>
            </a:r>
            <a:br/>
            <a:r>
              <a:t>│  KEY LENGTH     (2 bytes)  │</a:t>
            </a:r>
            <a:br/>
            <a:r>
              <a:t>├─────────────────────────────┤</a:t>
            </a:r>
            <a:br/>
            <a:r>
              <a:t>│  RSA-ENCRYPTED AES KEY     │</a:t>
            </a:r>
            <a:br/>
            <a:r>
              <a:t>│  (256 bytes for 2048-bit)  │</a:t>
            </a:r>
            <a:br/>
            <a:r>
              <a:t>├─────────────────────────────┤</a:t>
            </a:r>
            <a:br/>
            <a:r>
              <a:t>│  AES IV         (16 bytes) │</a:t>
            </a:r>
            <a:br/>
            <a:r>
              <a:t>├─────────────────────────────┤</a:t>
            </a:r>
            <a:br/>
            <a:r>
              <a:t>│  HMAC-SHA256    (32 bytes) │</a:t>
            </a:r>
            <a:br/>
            <a:r>
              <a:t>├─────────────────────────────┤</a:t>
            </a:r>
            <a:br/>
            <a:r>
              <a:t>│  CIPHERTEXT     (variable) │</a:t>
            </a:r>
            <a:br/>
            <a:r>
              <a:t>└─────────────────────────────┘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4624" y="5740747"/>
            <a:ext cx="4629149" cy="3704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75">
                <a:solidFill>
                  <a:srgbClr val="8B949E"/>
                </a:solidFill>
              </a:defRPr>
            </a:pPr>
            <a:r>
              <a:t>Project Files: hybrid_crypto.py • cli.py • gui.py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1999" y="640853"/>
            <a:ext cx="647699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BC8CFF"/>
                </a:solidFill>
              </a:defRPr>
            </a:pPr>
            <a:r>
              <a:t>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993278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Core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999" y="1755278"/>
            <a:ext cx="5181599" cy="45571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62">
                <a:solidFill>
                  <a:srgbClr val="E6EDF3"/>
                </a:solidFill>
              </a:defRPr>
            </a:pPr>
            <a:r>
              <a:t># AES-256-CBC Encryption</a:t>
            </a:r>
            <a:br/>
            <a:r>
              <a:t>from Crypto.Cipher import AES, PKCS1_OAEP</a:t>
            </a:r>
            <a:br/>
            <a:r>
              <a:t>from Crypto.PublicKey import RSA</a:t>
            </a:r>
            <a:br/>
            <a:r>
              <a:t>from Crypto.Random import get_random_bytes</a:t>
            </a:r>
            <a:br/>
            <a:br/>
            <a:r>
              <a:t># 1. Generate session key</a:t>
            </a:r>
            <a:br/>
            <a:r>
              <a:t>aes_key = get_random_bytes(32)  # 256-bit</a:t>
            </a:r>
            <a:br/>
            <a:r>
              <a:t>iv      = get_random_bytes(16)  # 128-bit IV</a:t>
            </a:r>
            <a:br/>
            <a:br/>
            <a:r>
              <a:t># 2. Encrypt file data</a:t>
            </a:r>
            <a:br/>
            <a:r>
              <a:t>cipher = AES.new(aes_key, AES.MODE_CBC, iv)</a:t>
            </a:r>
            <a:br/>
            <a:r>
              <a:t>ciphertext = cipher.encrypt(pad(data, 16))</a:t>
            </a:r>
            <a:br/>
            <a:br/>
            <a:r>
              <a:t># 3. HMAC integrity tag</a:t>
            </a:r>
            <a:br/>
            <a:r>
              <a:t>mac = hmac.new(aes_key, iv+ciphertext,</a:t>
            </a:r>
            <a:br/>
            <a:r>
              <a:t>              hashlib.sha256).digest()</a:t>
            </a:r>
            <a:br/>
            <a:br/>
            <a:r>
              <a:t># 4. Encrypt AES key with RSA</a:t>
            </a:r>
            <a:br/>
            <a:r>
              <a:t>rsa_key = RSA.import_key(pub_pem)</a:t>
            </a:r>
            <a:br/>
            <a:r>
              <a:t>cipher_rsa = PKCS1_OAEP.new(rsa_key)</a:t>
            </a:r>
            <a:br/>
            <a:r>
              <a:t>enc_key = cipher_rsa.encrypt(aes_key)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24624" y="1993403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Module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24624" y="2345828"/>
            <a:ext cx="4629149" cy="1238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>
                <a:solidFill>
                  <a:srgbClr val="8B949E"/>
                </a:solidFill>
              </a:defRPr>
            </a:pPr>
            <a:r>
              <a:t>app.py ← PyQt6 desktop app</a:t>
            </a:r>
            <a:br/>
            <a:r>
              <a:t>hybrid_crypto.py ← Core engine</a:t>
            </a:r>
            <a:br/>
            <a:r>
              <a:t>cli.py ← Terminal CLI</a:t>
            </a:r>
            <a:br/>
            <a:r>
              <a:t>test_crypto.py ← 10 tests (all pass)</a:t>
            </a:r>
            <a:br/>
            <a:r>
              <a:t>dist/HybridCrypto.exe ← Standalone .exe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4624" y="4117478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3FB950"/>
                </a:solidFill>
              </a:defRPr>
            </a:pPr>
            <a:r>
              <a:t>Dependencies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4624" y="4469903"/>
            <a:ext cx="4629149" cy="1085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8B949E"/>
                </a:solidFill>
              </a:defRPr>
            </a:pPr>
            <a:r>
              <a:t>• PyCryptodome 3.19+ (crypto primitives)</a:t>
            </a:r>
            <a:br/>
            <a:r>
              <a:t>• PyQt6 6.6+ (desktop UI framework)</a:t>
            </a:r>
            <a:br/>
            <a:r>
              <a:t>• PyInstaller (standalone .exe build)</a:t>
            </a:r>
            <a:br/>
            <a:r>
              <a:t>• Python 3.8+ standard library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1999" y="893117"/>
            <a:ext cx="668982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3FB950"/>
                </a:solidFill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245542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924" y="2864792"/>
            <a:ext cx="3105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58A6FF"/>
                </a:solidFill>
              </a:defRPr>
            </a:pPr>
            <a:r>
              <a:t>Step 1: Key 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924" y="3255317"/>
            <a:ext cx="3105149" cy="984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25">
                <a:solidFill>
                  <a:srgbClr val="E6EDF3"/>
                </a:solidFill>
              </a:defRPr>
            </a:pPr>
            <a:r>
              <a:t>python cli.py keygen \</a:t>
            </a:r>
            <a:br/>
            <a:r>
              <a:t>  --private keys/private.pem \</a:t>
            </a:r>
            <a:br/>
            <a:r>
              <a:t>  --public  keys/public.pem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4" y="4240113"/>
            <a:ext cx="3105149" cy="2894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>
                <a:solidFill>
                  <a:srgbClr val="8B949E"/>
                </a:solidFill>
              </a:defRPr>
            </a:pPr>
            <a:r>
              <a:t>Generates RSA-2048 key pair with SHA-256 fingerprint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3424" y="2864792"/>
            <a:ext cx="3105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E3B341"/>
                </a:solidFill>
              </a:defRPr>
            </a:pPr>
            <a:r>
              <a:t>Step 2: Encrypt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3424" y="3255317"/>
            <a:ext cx="3105149" cy="117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25">
                <a:solidFill>
                  <a:srgbClr val="E6EDF3"/>
                </a:solidFill>
              </a:defRPr>
            </a:pPr>
            <a:r>
              <a:t>python cli.py encrypt \</a:t>
            </a:r>
            <a:br/>
            <a:r>
              <a:t>  --input  secret.txt \</a:t>
            </a:r>
            <a:br/>
            <a:r>
              <a:t>  --output secret.enc \</a:t>
            </a:r>
            <a:br/>
            <a:r>
              <a:t>  --key    keys/public.pem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3424" y="4428678"/>
            <a:ext cx="3105149" cy="4836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>
                <a:solidFill>
                  <a:srgbClr val="8B949E"/>
                </a:solidFill>
              </a:defRPr>
            </a:pPr>
            <a:r>
              <a:t>Produces encrypted .enc bundle unreadable without private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62924" y="2864792"/>
            <a:ext cx="3105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3FB950"/>
                </a:solidFill>
              </a:defRPr>
            </a:pPr>
            <a:r>
              <a:t>Step 3: Decrypt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2924" y="3255317"/>
            <a:ext cx="3105149" cy="117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25">
                <a:solidFill>
                  <a:srgbClr val="E6EDF3"/>
                </a:solidFill>
              </a:defRPr>
            </a:pPr>
            <a:r>
              <a:t>python cli.py decrypt \</a:t>
            </a:r>
            <a:br/>
            <a:r>
              <a:t>  --input  secret.enc \</a:t>
            </a:r>
            <a:br/>
            <a:r>
              <a:t>  --output recovered.txt \</a:t>
            </a:r>
            <a:br/>
            <a:r>
              <a:t>  --key    keys/private.pem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2924" y="4428678"/>
            <a:ext cx="3105149" cy="2894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>
                <a:solidFill>
                  <a:srgbClr val="8B949E"/>
                </a:solidFill>
              </a:defRPr>
            </a:pPr>
            <a:r>
              <a:t>HMAC verified first; plaintext restored if integrity 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224" y="5483869"/>
            <a:ext cx="10115549" cy="3381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25">
                <a:solidFill>
                  <a:srgbClr val="8B949E"/>
                </a:solidFill>
              </a:defRPr>
            </a:pPr>
            <a:r>
              <a:t>Tamper Detection Demo: Flip bits in .enc file → INTEGRITY CHECK FAILED → Decryption aborted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1999" y="1338857"/>
            <a:ext cx="937170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BC8CFF"/>
                </a:solidFill>
              </a:defRPr>
            </a:pPr>
            <a:r>
              <a:t>GUI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691282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Desktop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4" y="2691407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BC8CFF"/>
                </a:solidFill>
              </a:defRPr>
            </a:pPr>
            <a:r>
              <a:t>User-Friendly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224" y="3120032"/>
            <a:ext cx="4629149" cy="645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75">
                <a:solidFill>
                  <a:srgbClr val="8B949E"/>
                </a:solidFill>
              </a:defRPr>
            </a:pPr>
            <a:r>
              <a:t>We built a fully featured PyQt6 Desktop Application to make encryption accessible to non-technical users.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8724" y="3784699"/>
            <a:ext cx="4438649" cy="335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>
                <a:solidFill>
                  <a:srgbClr val="F0F6FC"/>
                </a:solidFill>
              </a:defRPr>
            </a:pPr>
            <a:r>
              <a:t>Dashboard: Real-time system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8724" y="4024610"/>
            <a:ext cx="4438649" cy="335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>
                <a:solidFill>
                  <a:srgbClr val="F0F6FC"/>
                </a:solidFill>
              </a:defRPr>
            </a:pPr>
            <a:r>
              <a:t>Key Generation: One-click RSA key pairs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8724" y="4264521"/>
            <a:ext cx="4438649" cy="335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>
                <a:solidFill>
                  <a:srgbClr val="F0F6FC"/>
                </a:solidFill>
              </a:defRPr>
            </a:pPr>
            <a:r>
              <a:t>File Pickers: Easy browse for files &amp;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8724" y="4504432"/>
            <a:ext cx="4438649" cy="335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>
                <a:solidFill>
                  <a:srgbClr val="F0F6FC"/>
                </a:solidFill>
              </a:defRPr>
            </a:pPr>
            <a:r>
              <a:t>Live Logging: See background tasks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24" y="2691407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Standalone Executable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4624" y="3043832"/>
            <a:ext cx="4629149" cy="6247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>
                <a:solidFill>
                  <a:srgbClr val="E6EDF3"/>
                </a:solidFill>
              </a:defRPr>
            </a:pPr>
            <a:r>
              <a:t>dist\HybridCrypto.exe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4624" y="3668613"/>
            <a:ext cx="4629149" cy="3056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8B949E"/>
                </a:solidFill>
              </a:defRPr>
            </a:pPr>
            <a:r>
              <a:t>No Python installation required. Double-click to run on any Windows machine.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4624" y="4507706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3FB950"/>
                </a:solidFill>
              </a:defRPr>
            </a:pPr>
            <a:r>
              <a:t>Threaded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4624" y="4860131"/>
            <a:ext cx="4629149" cy="5161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8B949E"/>
                </a:solidFill>
              </a:defRPr>
            </a:pPr>
            <a:r>
              <a:t>Heavy cryptographic tasks run on background threads, ensuring the UI remains perfectly smooth and responsive.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1999" y="895350"/>
            <a:ext cx="858142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3FB950"/>
                </a:solidFill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247775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Test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4" y="2247900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Test Suite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224" y="2676525"/>
            <a:ext cx="3256359" cy="485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t>Test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4584" y="2676525"/>
            <a:ext cx="1372790" cy="485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t>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4" y="3067050"/>
            <a:ext cx="3256359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Empty file (0 bytes)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4584" y="3067050"/>
            <a:ext cx="1372790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4" y="3443287"/>
            <a:ext cx="325635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Small text (27 bytes)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4584" y="3443287"/>
            <a:ext cx="1372790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4" y="3824287"/>
            <a:ext cx="325635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Multiline text (440 bytes)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4584" y="3824287"/>
            <a:ext cx="1372790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224" y="4205287"/>
            <a:ext cx="325635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Binary data (4 KB)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584" y="4205287"/>
            <a:ext cx="1372790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4" y="4586287"/>
            <a:ext cx="325635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Large file (512 KB)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4584" y="4586287"/>
            <a:ext cx="1372790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8224" y="4967287"/>
            <a:ext cx="325635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Tamper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4584" y="4967287"/>
            <a:ext cx="1372790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8224" y="5348287"/>
            <a:ext cx="3256359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SHA-256 hash 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4584" y="5348287"/>
            <a:ext cx="1372790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4624" y="2247900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E3B341"/>
                </a:solidFill>
              </a:defRPr>
            </a:pPr>
            <a:r>
              <a:t>Performance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4624" y="2638425"/>
            <a:ext cx="1535161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Key Generation (2048-bit)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4119" y="2638425"/>
            <a:ext cx="329654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58A6FF"/>
                </a:solidFill>
              </a:defRPr>
            </a:pPr>
            <a:r>
              <a:t>~0.5s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4624" y="3057525"/>
            <a:ext cx="1153715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1 MB file encryption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6117" y="3057525"/>
            <a:ext cx="297656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&lt;0.1s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4624" y="3476625"/>
            <a:ext cx="1156394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1 MB file decryption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6117" y="3476625"/>
            <a:ext cx="297656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&lt;0.1s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4624" y="3895725"/>
            <a:ext cx="1309985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100 MB file encryption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6798" y="3895725"/>
            <a:ext cx="326975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E3B341"/>
                </a:solidFill>
              </a:defRPr>
            </a:pPr>
            <a:r>
              <a:t>~3.5s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24624" y="4943475"/>
            <a:ext cx="4629149" cy="7636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8B949E"/>
                </a:solidFill>
              </a:defRPr>
            </a:pPr>
            <a:r>
              <a:t>✓ SHA-256 hashes match before/after in all test cases</a:t>
            </a:r>
            <a:br/>
            <a:r>
              <a:t>✓ All 10 unit tests pass (0 failures)</a:t>
            </a:r>
            <a:br/>
            <a:r>
              <a:t>✓ Supports text, binary, PDF, image files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1999" y="1037629"/>
            <a:ext cx="938510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58A6FF"/>
                </a:solidFill>
              </a:defRPr>
            </a:pPr>
            <a: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390054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Security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4" y="2390179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3FB950"/>
                </a:solidFill>
              </a:defRPr>
            </a:pPr>
            <a:r>
              <a:t>Strengths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224" y="2799754"/>
            <a:ext cx="1955303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Brute-force resistance (AES-256)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5494" y="2799754"/>
            <a:ext cx="28188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4" y="3218854"/>
            <a:ext cx="2056804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Key exchange security (RSA-2048)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7663" y="3218854"/>
            <a:ext cx="309711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4" y="3637954"/>
            <a:ext cx="2066776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Tamper detection (HMAC-SHA256)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85494" y="3637954"/>
            <a:ext cx="28188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MAX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4" y="4057054"/>
            <a:ext cx="1971079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Padding oracle resistance (OAEP)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7663" y="4057054"/>
            <a:ext cx="309711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224" y="4476154"/>
            <a:ext cx="1939825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Pattern concealment (random IV)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494" y="4476154"/>
            <a:ext cx="28188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MAX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624" y="2390179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E3B341"/>
                </a:solidFill>
              </a:defRPr>
            </a:pPr>
            <a:r>
              <a:t>Known Limitations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4624" y="2780704"/>
            <a:ext cx="4629149" cy="98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8B949E"/>
                </a:solidFill>
              </a:defRPr>
            </a:pPr>
            <a:r>
              <a:t>• Private key stored unencrypted on disk</a:t>
            </a:r>
            <a:br/>
            <a:r>
              <a:t>• No perfect forward secrecy (RSA reuse)</a:t>
            </a:r>
            <a:br/>
            <a:r>
              <a:t>• No key revocation mechanism</a:t>
            </a:r>
            <a:br/>
            <a:r>
              <a:t>• Single-recipient encryption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4624" y="4300537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Future Improvements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4624" y="4691062"/>
            <a:ext cx="4629149" cy="98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8B949E"/>
                </a:solidFill>
              </a:defRPr>
            </a:pPr>
            <a:r>
              <a:t>• Passphrase-protected private key (AES-256-GCM wrapping)</a:t>
            </a:r>
            <a:br/>
            <a:r>
              <a:t>• Digital signatures (RSA + SHA-256)</a:t>
            </a:r>
            <a:br/>
            <a:r>
              <a:t>• Elliptic Curve Cryptography (ECDH)</a:t>
            </a:r>
            <a:br/>
            <a:r>
              <a:t>• Multi-recipient support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42048" y="778668"/>
            <a:ext cx="1307901" cy="13620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0">
                <a:solidFill>
                  <a:srgbClr val="F0F6FC"/>
                </a:solidFill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61196" y="2045493"/>
            <a:ext cx="4469605" cy="6316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3840" b="1">
                <a:solidFill>
                  <a:srgbClr val="F0F6FC"/>
                </a:solidFill>
              </a:defRPr>
            </a:pPr>
            <a:r>
              <a:t>Project Completed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499" y="2696170"/>
            <a:ext cx="6476999" cy="918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>
                <a:solidFill>
                  <a:srgbClr val="8B949E"/>
                </a:solidFill>
              </a:defRPr>
            </a:pPr>
            <a:r>
              <a:t>We successfully implemented a Secure File Encryption System combining RSA-2048, AES-256-CBC, and HMAC-SHA256. The system provides confidentiality, integrity, and authenticity for any file 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55938" y="5852666"/>
            <a:ext cx="2880121" cy="321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50">
                <a:solidFill>
                  <a:srgbClr val="8B949E"/>
                </a:solidFill>
              </a:defRPr>
            </a:pPr>
            <a:r>
              <a:t>Information Security — Group Project  | 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