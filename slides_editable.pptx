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950" y="12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emp_sli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532" y="1091153"/>
            <a:ext cx="1046261" cy="11049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6000">
                <a:solidFill>
                  <a:srgbClr val="F0F6FC"/>
                </a:solidFill>
              </a:defRPr>
            </a:pPr>
            <a:r>
              <a:t>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70862" y="2404616"/>
            <a:ext cx="8165453" cy="1268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4200" b="1">
                <a:solidFill>
                  <a:srgbClr val="F0F6FC"/>
                </a:solidFill>
              </a:defRPr>
            </a:pPr>
            <a:r>
              <a:rPr dirty="0"/>
              <a:t>Secure File Encryption System</a:t>
            </a:r>
            <a:br>
              <a:rPr dirty="0"/>
            </a:br>
            <a:r>
              <a:rPr dirty="0"/>
              <a:t>using Hybrid Cryptography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2242" y="3730376"/>
            <a:ext cx="3702694" cy="4513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650">
                <a:solidFill>
                  <a:srgbClr val="8B949E"/>
                </a:solidFill>
              </a:defRPr>
            </a:pPr>
            <a:r>
              <a:rPr dirty="0"/>
              <a:t>Information Security — Group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83463" y="4419026"/>
            <a:ext cx="935235" cy="333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>
                <a:solidFill>
                  <a:srgbClr val="58A6FF"/>
                </a:solidFill>
              </a:defRPr>
            </a:pPr>
            <a:r>
              <a:rPr dirty="0"/>
              <a:t>RSA-2048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52876" y="4431082"/>
            <a:ext cx="1178867" cy="333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>
                <a:solidFill>
                  <a:srgbClr val="E3B341"/>
                </a:solidFill>
              </a:defRPr>
            </a:pPr>
            <a:r>
              <a:rPr dirty="0"/>
              <a:t>AES-256-CBC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97732" y="4427106"/>
            <a:ext cx="1254323" cy="333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>
                <a:solidFill>
                  <a:srgbClr val="3FB950"/>
                </a:solidFill>
              </a:defRPr>
            </a:pPr>
            <a:r>
              <a:t>HMAC-SHA256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98161" y="4431080"/>
            <a:ext cx="1656010" cy="333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>
                <a:solidFill>
                  <a:srgbClr val="BC8CFF"/>
                </a:solidFill>
              </a:defRPr>
            </a:pPr>
            <a:r>
              <a:rPr dirty="0"/>
              <a:t>PYQT6 DESKTOP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41420" y="5410497"/>
            <a:ext cx="5424338" cy="3381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25">
                <a:solidFill>
                  <a:srgbClr val="8B949E"/>
                </a:solidFill>
              </a:defRPr>
            </a:pPr>
            <a:r>
              <a:t>Presented by: Waqas Ul Hasan (FA23-BCS-167) &amp; Qurat Ul ain (FA23-BCS-195)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emp_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26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38224" y="1301530"/>
            <a:ext cx="822962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>
                <a:solidFill>
                  <a:srgbClr val="58A6FF"/>
                </a:solidFill>
              </a:defRPr>
            </a:pPr>
            <a:r>
              <a:rPr dirty="0"/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99" y="1605557"/>
            <a:ext cx="10667999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850" b="1">
                <a:solidFill>
                  <a:srgbClr val="F0F6FC"/>
                </a:solidFill>
              </a:defRPr>
            </a:pPr>
            <a:r>
              <a:t>The Problem: Secure File Transfer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924" y="3224807"/>
            <a:ext cx="3105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800" b="1">
                <a:solidFill>
                  <a:srgbClr val="F0F6FC"/>
                </a:solidFill>
              </a:defRPr>
            </a:pPr>
            <a:r>
              <a:rPr dirty="0"/>
              <a:t>Data in Transit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924" y="3577232"/>
            <a:ext cx="3105149" cy="9207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275">
                <a:solidFill>
                  <a:srgbClr val="8B949E"/>
                </a:solidFill>
              </a:defRPr>
            </a:pPr>
            <a:r>
              <a:rPr dirty="0"/>
              <a:t>Files sent over networks can be intercepted by attackers using packet sniffing 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43424" y="3224807"/>
            <a:ext cx="3105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800" b="1">
                <a:solidFill>
                  <a:srgbClr val="F0F6FC"/>
                </a:solidFill>
              </a:defRPr>
            </a:pPr>
            <a:r>
              <a:t>Data at Rest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43424" y="3577232"/>
            <a:ext cx="3105149" cy="9207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275">
                <a:solidFill>
                  <a:srgbClr val="8B949E"/>
                </a:solidFill>
              </a:defRPr>
            </a:pPr>
            <a:r>
              <a:t>Files stored on disk are vulnerable if a system is compromised or storage is stolen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2924" y="3224807"/>
            <a:ext cx="3105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800" b="1">
                <a:solidFill>
                  <a:srgbClr val="F0F6FC"/>
                </a:solidFill>
              </a:defRPr>
            </a:pPr>
            <a:r>
              <a:t>Key Distribution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62924" y="3577232"/>
            <a:ext cx="3105149" cy="9207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275">
                <a:solidFill>
                  <a:srgbClr val="8B949E"/>
                </a:solidFill>
              </a:defRPr>
            </a:pPr>
            <a:r>
              <a:t>Symmetric encryption alone can't securely share the secret key between parties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4" y="5107632"/>
            <a:ext cx="10115549" cy="3542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200">
                <a:solidFill>
                  <a:srgbClr val="8B949E"/>
                </a:solidFill>
              </a:defRPr>
            </a:pPr>
            <a:r>
              <a:rPr dirty="0"/>
              <a:t>Solution: Combine symmetric speed with asymmetric security — Hybrid Cryptography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emp_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59707" y="1001924"/>
            <a:ext cx="442786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>
                <a:solidFill>
                  <a:srgbClr val="BC8CFF"/>
                </a:solidFill>
              </a:defRPr>
            </a:pPr>
            <a:r>
              <a:rPr dirty="0"/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99" y="1304925"/>
            <a:ext cx="10667999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850" b="1">
                <a:solidFill>
                  <a:srgbClr val="F0F6FC"/>
                </a:solidFill>
              </a:defRPr>
            </a:pPr>
            <a:r>
              <a:t>Why Hybrid Cryptography?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4" y="2305050"/>
            <a:ext cx="4629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E3B341"/>
                </a:solidFill>
              </a:defRPr>
            </a:pPr>
            <a:r>
              <a:t>AES (Symmetric)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6284" y="2805123"/>
            <a:ext cx="4629149" cy="4714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✅ Extremely fast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6284" y="3181360"/>
            <a:ext cx="4629149" cy="476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rPr dirty="0"/>
              <a:t>✅ Handles any file size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6284" y="3562360"/>
            <a:ext cx="4629149" cy="476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✅ Low CPU overhead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284" y="3943360"/>
            <a:ext cx="4629149" cy="476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❌ Key distribution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284" y="4324360"/>
            <a:ext cx="4629149" cy="4714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❌ Both parties need same key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4624" y="2305050"/>
            <a:ext cx="4629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58A6FF"/>
                </a:solidFill>
              </a:defRPr>
            </a:pPr>
            <a:r>
              <a:t>RSA (Asymmetric)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2684" y="2805123"/>
            <a:ext cx="4629149" cy="4714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✅ Solves key distribution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2684" y="3181360"/>
            <a:ext cx="4629149" cy="476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✅ Public key freely shared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2684" y="3562360"/>
            <a:ext cx="4629149" cy="476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✅ Private key never transmitted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2684" y="3943360"/>
            <a:ext cx="4629149" cy="476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❌ Slow — can't encrypt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2684" y="4324360"/>
            <a:ext cx="4629149" cy="4714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❌ Limited data size (~214 bytes)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6925" y="5405401"/>
            <a:ext cx="767541" cy="1500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75" b="1">
                <a:solidFill>
                  <a:srgbClr val="58A6FF"/>
                </a:solidFill>
              </a:defRPr>
            </a:pPr>
            <a:r>
              <a:rPr dirty="0"/>
              <a:t>File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5006" y="5407768"/>
            <a:ext cx="968425" cy="1500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75" b="1">
                <a:solidFill>
                  <a:srgbClr val="58A6FF"/>
                </a:solidFill>
              </a:defRPr>
            </a:pPr>
            <a:r>
              <a:rPr dirty="0"/>
              <a:t>AES-256 Encrypt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1932" y="5407768"/>
            <a:ext cx="913860" cy="1500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75" b="1">
                <a:solidFill>
                  <a:srgbClr val="58A6FF"/>
                </a:solidFill>
              </a:defRPr>
            </a:pPr>
            <a:r>
              <a:rPr dirty="0"/>
              <a:t> Ciphertext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864" y="5403034"/>
            <a:ext cx="815781" cy="1500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75" b="1">
                <a:solidFill>
                  <a:srgbClr val="58A6FF"/>
                </a:solidFill>
              </a:defRPr>
            </a:pPr>
            <a:r>
              <a:rPr dirty="0"/>
              <a:t>🗝 AES Key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0930" y="5410135"/>
            <a:ext cx="1036329" cy="1500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75" b="1">
                <a:solidFill>
                  <a:srgbClr val="58A6FF"/>
                </a:solidFill>
              </a:defRPr>
            </a:pPr>
            <a:r>
              <a:rPr dirty="0"/>
              <a:t>RSA-2048 Encrypt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2190" y="5403034"/>
            <a:ext cx="913860" cy="1500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75" b="1">
                <a:solidFill>
                  <a:srgbClr val="58A6FF"/>
                </a:solidFill>
              </a:defRPr>
            </a:pPr>
            <a:r>
              <a:rPr dirty="0"/>
              <a:t> .enc Bundle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emp_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89023" y="1053924"/>
            <a:ext cx="858696" cy="1430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>
                <a:solidFill>
                  <a:srgbClr val="E3B341"/>
                </a:solidFill>
              </a:defRPr>
            </a:pPr>
            <a:r>
              <a:rPr dirty="0"/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99" y="1358800"/>
            <a:ext cx="10667999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850" b="1">
                <a:solidFill>
                  <a:srgbClr val="F0F6FC"/>
                </a:solidFill>
              </a:defRPr>
            </a:pPr>
            <a:r>
              <a:t>Cryptographic Algorithms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9023" y="2244625"/>
            <a:ext cx="1622226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50" b="1">
                <a:solidFill>
                  <a:srgbClr val="58A6FF"/>
                </a:solidFill>
              </a:defRPr>
            </a:pPr>
            <a:r>
              <a:rPr dirty="0"/>
              <a:t>Algorithm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11249" y="2244625"/>
            <a:ext cx="2039838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50" b="1">
                <a:solidFill>
                  <a:srgbClr val="58A6FF"/>
                </a:solidFill>
              </a:defRPr>
            </a:pPr>
            <a:r>
              <a:t>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51087" y="2244625"/>
            <a:ext cx="1642020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50" b="1">
                <a:solidFill>
                  <a:srgbClr val="58A6FF"/>
                </a:solidFill>
              </a:defRPr>
            </a:pPr>
            <a:r>
              <a:t>Key Size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3108" y="2244625"/>
            <a:ext cx="2263824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50" b="1">
                <a:solidFill>
                  <a:srgbClr val="58A6FF"/>
                </a:solidFill>
              </a:defRPr>
            </a:pPr>
            <a:r>
              <a:t>Mode/Variant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56932" y="2244625"/>
            <a:ext cx="3090564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50" b="1">
                <a:solidFill>
                  <a:srgbClr val="58A6FF"/>
                </a:solidFill>
              </a:defRPr>
            </a:pPr>
            <a:r>
              <a:t>Purpose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452" y="2639912"/>
            <a:ext cx="626910" cy="1500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rPr dirty="0"/>
              <a:t>AES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1249" y="2639912"/>
            <a:ext cx="2039838" cy="1500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Symmetric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1087" y="2639912"/>
            <a:ext cx="1642020" cy="1500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256-bit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93108" y="2639912"/>
            <a:ext cx="2263824" cy="1500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CBC + PKCS7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56932" y="2639912"/>
            <a:ext cx="3090564" cy="1500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Encrypt file content (fast)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9023" y="3006625"/>
            <a:ext cx="1622226" cy="1500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RSA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11249" y="3006625"/>
            <a:ext cx="2039838" cy="1500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Asymmetric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1087" y="3006625"/>
            <a:ext cx="1642020" cy="1500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2048-bit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3108" y="3006625"/>
            <a:ext cx="2263824" cy="1500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OAEP + SHA-256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56932" y="3006625"/>
            <a:ext cx="3090564" cy="1500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Encrypt AES session key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9023" y="3378100"/>
            <a:ext cx="1622226" cy="1500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HMAC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1249" y="3378100"/>
            <a:ext cx="2039838" cy="1500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MAC / Integrity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51087" y="3378100"/>
            <a:ext cx="1642020" cy="1500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256-bit tag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3108" y="3378100"/>
            <a:ext cx="2263824" cy="1500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SHA-256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56932" y="3378100"/>
            <a:ext cx="3090564" cy="1500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Detect tampering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9023" y="3749575"/>
            <a:ext cx="1622226" cy="1500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IV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11249" y="3749575"/>
            <a:ext cx="2039838" cy="1500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Randomness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51087" y="3749575"/>
            <a:ext cx="1642020" cy="1500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128-bit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93108" y="3749575"/>
            <a:ext cx="2263824" cy="1500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CSPRNG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56932" y="3749575"/>
            <a:ext cx="3090564" cy="1500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Prevent pattern leakage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8224" y="4435375"/>
            <a:ext cx="4629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58A6FF"/>
                </a:solidFill>
              </a:defRPr>
            </a:pPr>
            <a:r>
              <a:t>OAEP Padding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8224" y="4787800"/>
            <a:ext cx="4629149" cy="9207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275">
                <a:solidFill>
                  <a:srgbClr val="8B949E"/>
                </a:solidFill>
              </a:defRPr>
            </a:pPr>
            <a:r>
              <a:t>Optimal Asymmetric Encryption Padding adds randomness to RSA, preventing deterministic outputs and chosen-ciphertext attacks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24624" y="4435375"/>
            <a:ext cx="4629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3FB950"/>
                </a:solidFill>
              </a:defRPr>
            </a:pPr>
            <a:r>
              <a:t>Encrypt-then-MAC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4624" y="4787800"/>
            <a:ext cx="4629149" cy="9207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275">
                <a:solidFill>
                  <a:srgbClr val="8B949E"/>
                </a:solidFill>
              </a:defRPr>
            </a:pPr>
            <a:r>
              <a:t>HMAC is computed over ciphertext after encryption — provably secure ordering that detects tampering before decryption begins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emp_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07532" y="644346"/>
            <a:ext cx="1445567" cy="333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>
                <a:solidFill>
                  <a:srgbClr val="3FB950"/>
                </a:solidFill>
              </a:defRPr>
            </a:pPr>
            <a:r>
              <a:rPr dirty="0"/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99" y="956220"/>
            <a:ext cx="10667999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850" b="1">
                <a:solidFill>
                  <a:srgbClr val="F0F6FC"/>
                </a:solidFill>
              </a:defRPr>
            </a:pPr>
            <a: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1999" y="1718220"/>
            <a:ext cx="5181599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58A6FF"/>
                </a:solidFill>
              </a:defRPr>
            </a:pPr>
            <a:r>
              <a:t>🔒 Encryption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399" y="1718220"/>
            <a:ext cx="518159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3FB950"/>
                </a:solidFill>
              </a:defRPr>
            </a:pPr>
            <a:r>
              <a:t>.enc File Format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44364" y="2318295"/>
            <a:ext cx="1989667" cy="29238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>
                <a:solidFill>
                  <a:srgbClr val="E6EDF3"/>
                </a:solidFill>
              </a:defRPr>
            </a:pPr>
            <a:r>
              <a:rPr sz="1000" dirty="0"/>
              <a:t>┌─────────────────────────────┐</a:t>
            </a:r>
            <a:br>
              <a:rPr sz="1000" dirty="0"/>
            </a:br>
            <a:r>
              <a:rPr sz="1000" dirty="0"/>
              <a:t>│  MAGIC HEADER   (8 bytes)  │</a:t>
            </a:r>
            <a:br>
              <a:rPr sz="1000" dirty="0"/>
            </a:br>
            <a:r>
              <a:rPr sz="1000" dirty="0"/>
              <a:t>├─────────────────────────────┤</a:t>
            </a:r>
            <a:br>
              <a:rPr sz="1000" dirty="0"/>
            </a:br>
            <a:r>
              <a:rPr sz="1000" dirty="0"/>
              <a:t>│  KEY LENGTH     (2 bytes)  │</a:t>
            </a:r>
            <a:br>
              <a:rPr sz="1000" dirty="0"/>
            </a:br>
            <a:r>
              <a:rPr sz="1000" dirty="0"/>
              <a:t>├─────────────────────────────┤</a:t>
            </a:r>
            <a:br>
              <a:rPr sz="1000" dirty="0"/>
            </a:br>
            <a:r>
              <a:rPr sz="1000" dirty="0"/>
              <a:t>│  RSA-ENCRYPTED AES KEY     │</a:t>
            </a:r>
            <a:br>
              <a:rPr sz="1000" dirty="0"/>
            </a:br>
            <a:r>
              <a:rPr sz="1000" dirty="0"/>
              <a:t>│  (256 bytes for 2048-bit)  │</a:t>
            </a:r>
            <a:br>
              <a:rPr sz="1000" dirty="0"/>
            </a:br>
            <a:r>
              <a:rPr sz="1000" dirty="0"/>
              <a:t>├─────────────────────────────┤</a:t>
            </a:r>
            <a:br>
              <a:rPr sz="1000" dirty="0"/>
            </a:br>
            <a:r>
              <a:rPr sz="1000" dirty="0"/>
              <a:t>│  AES IV         (16 bytes) │</a:t>
            </a:r>
            <a:br>
              <a:rPr sz="1000" dirty="0"/>
            </a:br>
            <a:r>
              <a:rPr sz="1000" dirty="0"/>
              <a:t>├─────────────────────────────┤</a:t>
            </a:r>
            <a:br>
              <a:rPr sz="1000" dirty="0"/>
            </a:br>
            <a:r>
              <a:rPr sz="1000" dirty="0"/>
              <a:t>│  HMAC-SHA256    (32 bytes) │</a:t>
            </a:r>
            <a:br>
              <a:rPr sz="1000" dirty="0"/>
            </a:br>
            <a:r>
              <a:rPr sz="1000" dirty="0"/>
              <a:t>├─────────────────────────────┤</a:t>
            </a:r>
            <a:br>
              <a:rPr sz="1000" dirty="0"/>
            </a:br>
            <a:r>
              <a:rPr sz="1000" dirty="0"/>
              <a:t>│  CIPHERTEXT     (variable) │</a:t>
            </a:r>
            <a:br>
              <a:rPr sz="1000" dirty="0"/>
            </a:br>
            <a:r>
              <a:rPr sz="1000" dirty="0"/>
              <a:t>└─────────────────────────────┘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24624" y="5740747"/>
            <a:ext cx="4629149" cy="3704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275">
                <a:solidFill>
                  <a:srgbClr val="8B949E"/>
                </a:solidFill>
              </a:defRPr>
            </a:pPr>
            <a:r>
              <a:t>Project Files: hybrid_crypto.py • cli.py • gui.py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emp_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54617" y="680223"/>
            <a:ext cx="32385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>
                <a:solidFill>
                  <a:srgbClr val="BC8CFF"/>
                </a:solidFill>
              </a:defRPr>
            </a:pPr>
            <a:r>
              <a:rPr dirty="0"/>
              <a:t>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99" y="993278"/>
            <a:ext cx="10667999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850" b="1">
                <a:solidFill>
                  <a:srgbClr val="F0F6FC"/>
                </a:solidFill>
              </a:defRPr>
            </a:pPr>
            <a:r>
              <a:t>Core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8466" y="2179140"/>
            <a:ext cx="5181599" cy="35548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62">
                <a:solidFill>
                  <a:srgbClr val="E6EDF3"/>
                </a:solidFill>
              </a:defRPr>
            </a:pPr>
            <a:r>
              <a:rPr sz="1100" dirty="0"/>
              <a:t># AES-256-CBC Encryption</a:t>
            </a:r>
            <a:br>
              <a:rPr sz="1100" dirty="0"/>
            </a:br>
            <a:r>
              <a:rPr sz="1100" dirty="0"/>
              <a:t>from </a:t>
            </a:r>
            <a:r>
              <a:rPr sz="1100" dirty="0" err="1"/>
              <a:t>Crypto.Cipher</a:t>
            </a:r>
            <a:r>
              <a:rPr sz="1100" dirty="0"/>
              <a:t> import AES, PKCS1_OAEP</a:t>
            </a:r>
            <a:br>
              <a:rPr sz="1100" dirty="0"/>
            </a:br>
            <a:r>
              <a:rPr sz="1100" dirty="0"/>
              <a:t>from </a:t>
            </a:r>
            <a:r>
              <a:rPr sz="1100" dirty="0" err="1"/>
              <a:t>Crypto.PublicKey</a:t>
            </a:r>
            <a:r>
              <a:rPr sz="1100" dirty="0"/>
              <a:t> import RSA</a:t>
            </a:r>
            <a:br>
              <a:rPr sz="1100" dirty="0"/>
            </a:br>
            <a:r>
              <a:rPr sz="1100" dirty="0"/>
              <a:t>from </a:t>
            </a:r>
            <a:r>
              <a:rPr sz="1100" dirty="0" err="1"/>
              <a:t>Crypto.Random</a:t>
            </a:r>
            <a:r>
              <a:rPr sz="1100" dirty="0"/>
              <a:t> import </a:t>
            </a:r>
            <a:r>
              <a:rPr sz="1100" dirty="0" err="1"/>
              <a:t>get_random_bytes</a:t>
            </a:r>
            <a:br>
              <a:rPr sz="1100" dirty="0"/>
            </a:br>
            <a:br>
              <a:rPr sz="1100" dirty="0"/>
            </a:br>
            <a:r>
              <a:rPr sz="1100" dirty="0"/>
              <a:t># 1. Generate session key</a:t>
            </a:r>
            <a:br>
              <a:rPr sz="1100" dirty="0"/>
            </a:br>
            <a:r>
              <a:rPr sz="1100" dirty="0" err="1"/>
              <a:t>aes_key</a:t>
            </a:r>
            <a:r>
              <a:rPr sz="1100" dirty="0"/>
              <a:t> = </a:t>
            </a:r>
            <a:r>
              <a:rPr sz="1100" dirty="0" err="1"/>
              <a:t>get_random_bytes</a:t>
            </a:r>
            <a:r>
              <a:rPr sz="1100" dirty="0"/>
              <a:t>(32)  # 256-bit</a:t>
            </a:r>
            <a:br>
              <a:rPr sz="1100" dirty="0"/>
            </a:br>
            <a:r>
              <a:rPr sz="1100" dirty="0"/>
              <a:t>iv      = </a:t>
            </a:r>
            <a:r>
              <a:rPr sz="1100" dirty="0" err="1"/>
              <a:t>get_random_bytes</a:t>
            </a:r>
            <a:r>
              <a:rPr sz="1100" dirty="0"/>
              <a:t>(16)  # 128-bit IV</a:t>
            </a:r>
            <a:br>
              <a:rPr sz="1100" dirty="0"/>
            </a:br>
            <a:br>
              <a:rPr sz="1100" dirty="0"/>
            </a:br>
            <a:r>
              <a:rPr sz="1100" dirty="0"/>
              <a:t># 2. Encrypt file data</a:t>
            </a:r>
            <a:br>
              <a:rPr sz="1100" dirty="0"/>
            </a:br>
            <a:r>
              <a:rPr sz="1100" dirty="0"/>
              <a:t>cipher = </a:t>
            </a:r>
            <a:r>
              <a:rPr sz="1100" dirty="0" err="1"/>
              <a:t>AES.new</a:t>
            </a:r>
            <a:r>
              <a:rPr sz="1100" dirty="0"/>
              <a:t>(</a:t>
            </a:r>
            <a:r>
              <a:rPr sz="1100" dirty="0" err="1"/>
              <a:t>aes_key</a:t>
            </a:r>
            <a:r>
              <a:rPr sz="1100" dirty="0"/>
              <a:t>, AES.MODE_CBC, iv)</a:t>
            </a:r>
            <a:br>
              <a:rPr sz="1100" dirty="0"/>
            </a:br>
            <a:r>
              <a:rPr sz="1100" dirty="0"/>
              <a:t>ciphertext = </a:t>
            </a:r>
            <a:r>
              <a:rPr sz="1100" dirty="0" err="1"/>
              <a:t>cipher.encrypt</a:t>
            </a:r>
            <a:r>
              <a:rPr sz="1100" dirty="0"/>
              <a:t>(pad(data, 16))</a:t>
            </a:r>
            <a:br>
              <a:rPr sz="1100" dirty="0"/>
            </a:br>
            <a:br>
              <a:rPr sz="1100" dirty="0"/>
            </a:br>
            <a:r>
              <a:rPr sz="1100" dirty="0"/>
              <a:t># 3. HMAC integrity tag</a:t>
            </a:r>
            <a:br>
              <a:rPr sz="1100" dirty="0"/>
            </a:br>
            <a:r>
              <a:rPr sz="1100" dirty="0"/>
              <a:t>mac = </a:t>
            </a:r>
            <a:r>
              <a:rPr sz="1100" dirty="0" err="1"/>
              <a:t>hmac.new</a:t>
            </a:r>
            <a:r>
              <a:rPr sz="1100" dirty="0"/>
              <a:t>(</a:t>
            </a:r>
            <a:r>
              <a:rPr sz="1100" dirty="0" err="1"/>
              <a:t>aes_key</a:t>
            </a:r>
            <a:r>
              <a:rPr sz="1100" dirty="0"/>
              <a:t>, </a:t>
            </a:r>
            <a:r>
              <a:rPr sz="1100" dirty="0" err="1"/>
              <a:t>iv+ciphertext</a:t>
            </a:r>
            <a:r>
              <a:rPr sz="1100" dirty="0"/>
              <a:t>,</a:t>
            </a:r>
            <a:br>
              <a:rPr sz="1100" dirty="0"/>
            </a:br>
            <a:r>
              <a:rPr sz="1100" dirty="0"/>
              <a:t>              hashlib.sha256).digest()</a:t>
            </a:r>
            <a:br>
              <a:rPr sz="1100" dirty="0"/>
            </a:br>
            <a:br>
              <a:rPr sz="1100" dirty="0"/>
            </a:br>
            <a:r>
              <a:rPr sz="1100" dirty="0"/>
              <a:t># 4. Encrypt AES key with RSA</a:t>
            </a:r>
            <a:br>
              <a:rPr sz="1100" dirty="0"/>
            </a:br>
            <a:r>
              <a:rPr sz="1100" dirty="0" err="1"/>
              <a:t>rsa_key</a:t>
            </a:r>
            <a:r>
              <a:rPr sz="1100" dirty="0"/>
              <a:t> = </a:t>
            </a:r>
            <a:r>
              <a:rPr sz="1100" dirty="0" err="1"/>
              <a:t>RSA.import_key</a:t>
            </a:r>
            <a:r>
              <a:rPr sz="1100" dirty="0"/>
              <a:t>(</a:t>
            </a:r>
            <a:r>
              <a:rPr sz="1100" dirty="0" err="1"/>
              <a:t>pub_pem</a:t>
            </a:r>
            <a:r>
              <a:rPr sz="1100" dirty="0"/>
              <a:t>)</a:t>
            </a:r>
            <a:br>
              <a:rPr sz="1100" dirty="0"/>
            </a:br>
            <a:r>
              <a:rPr sz="1100" dirty="0" err="1"/>
              <a:t>cipher_rsa</a:t>
            </a:r>
            <a:r>
              <a:rPr sz="1100" dirty="0"/>
              <a:t> = PKCS1_OAEP.new(</a:t>
            </a:r>
            <a:r>
              <a:rPr sz="1100" dirty="0" err="1"/>
              <a:t>rsa_key</a:t>
            </a:r>
            <a:r>
              <a:rPr sz="1100" dirty="0"/>
              <a:t>)</a:t>
            </a:r>
            <a:br>
              <a:rPr sz="1100" dirty="0"/>
            </a:br>
            <a:r>
              <a:rPr sz="1100" dirty="0" err="1"/>
              <a:t>enc_key</a:t>
            </a:r>
            <a:r>
              <a:rPr sz="1100" dirty="0"/>
              <a:t> = </a:t>
            </a:r>
            <a:r>
              <a:rPr sz="1100" dirty="0" err="1"/>
              <a:t>cipher_rsa.encrypt</a:t>
            </a:r>
            <a:r>
              <a:rPr sz="1100" dirty="0"/>
              <a:t>(</a:t>
            </a:r>
            <a:r>
              <a:rPr sz="1100" dirty="0" err="1"/>
              <a:t>aes_key</a:t>
            </a:r>
            <a:r>
              <a:rPr sz="1100" dirty="0"/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24624" y="1993403"/>
            <a:ext cx="4629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58A6FF"/>
                </a:solidFill>
              </a:defRPr>
            </a:pPr>
            <a:r>
              <a:t>Module 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24624" y="2345828"/>
            <a:ext cx="4629149" cy="7694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>
                <a:solidFill>
                  <a:srgbClr val="8B949E"/>
                </a:solidFill>
              </a:defRPr>
            </a:pPr>
            <a:r>
              <a:rPr sz="1000" dirty="0"/>
              <a:t>app.py ← PyQt6 desktop app</a:t>
            </a:r>
            <a:br>
              <a:rPr sz="1000" dirty="0"/>
            </a:br>
            <a:r>
              <a:rPr sz="1000" dirty="0"/>
              <a:t>hybrid_crypto.py ← Core engine</a:t>
            </a:r>
            <a:br>
              <a:rPr sz="1000" dirty="0"/>
            </a:br>
            <a:r>
              <a:rPr sz="1000" dirty="0"/>
              <a:t>cli.py ← Terminal CLI</a:t>
            </a:r>
            <a:br>
              <a:rPr sz="1000" dirty="0"/>
            </a:br>
            <a:r>
              <a:rPr sz="1000" dirty="0"/>
              <a:t>test_crypto.py ← 10 tests (all pass)</a:t>
            </a:r>
            <a:br>
              <a:rPr sz="1000" dirty="0"/>
            </a:br>
            <a:r>
              <a:rPr sz="1000" dirty="0" err="1"/>
              <a:t>dist</a:t>
            </a:r>
            <a:r>
              <a:rPr sz="1000" dirty="0"/>
              <a:t>/HybridCrypto.exe ← Standalone .exe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24624" y="4117478"/>
            <a:ext cx="4629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3FB950"/>
                </a:solidFill>
              </a:defRPr>
            </a:pPr>
            <a:r>
              <a:t>Dependencies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24624" y="4469903"/>
            <a:ext cx="4629149" cy="615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8B949E"/>
                </a:solidFill>
              </a:defRPr>
            </a:pPr>
            <a:r>
              <a:rPr sz="1000" dirty="0"/>
              <a:t>• </a:t>
            </a:r>
            <a:r>
              <a:rPr sz="1000" dirty="0" err="1"/>
              <a:t>PyCryptodome</a:t>
            </a:r>
            <a:r>
              <a:rPr sz="1000" dirty="0"/>
              <a:t> 3.19+ (crypto primitives)</a:t>
            </a:r>
            <a:br>
              <a:rPr sz="1000" dirty="0"/>
            </a:br>
            <a:r>
              <a:rPr sz="1000" dirty="0"/>
              <a:t>• PyQt6 6.6+ (desktop UI framework)</a:t>
            </a:r>
            <a:br>
              <a:rPr sz="1000" dirty="0"/>
            </a:br>
            <a:r>
              <a:rPr sz="1000" dirty="0"/>
              <a:t>• </a:t>
            </a:r>
            <a:r>
              <a:rPr sz="1000" dirty="0" err="1"/>
              <a:t>PyInstaller</a:t>
            </a:r>
            <a:r>
              <a:rPr sz="1000" dirty="0"/>
              <a:t> (standalone .exe build)</a:t>
            </a:r>
            <a:br>
              <a:rPr sz="1000" dirty="0"/>
            </a:br>
            <a:r>
              <a:rPr sz="1000" dirty="0"/>
              <a:t>• Python 3.8+ standard library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emp_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23924" y="938845"/>
            <a:ext cx="668982" cy="333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>
                <a:solidFill>
                  <a:srgbClr val="3FB950"/>
                </a:solidFill>
              </a:defRPr>
            </a:pPr>
            <a:r>
              <a:rPr dirty="0"/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99" y="1245542"/>
            <a:ext cx="10667999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850" b="1">
                <a:solidFill>
                  <a:srgbClr val="F0F6FC"/>
                </a:solidFill>
              </a:defRPr>
            </a:pPr>
            <a:r>
              <a:t>Live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924" y="2864792"/>
            <a:ext cx="3105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800" b="1">
                <a:solidFill>
                  <a:srgbClr val="58A6FF"/>
                </a:solidFill>
              </a:defRPr>
            </a:pPr>
            <a:r>
              <a:t>Step 1: Key 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9457" y="3392684"/>
            <a:ext cx="3105149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25">
                <a:solidFill>
                  <a:srgbClr val="E6EDF3"/>
                </a:solidFill>
              </a:defRPr>
            </a:pPr>
            <a:r>
              <a:rPr sz="1000"/>
              <a:t>python cli.py keygen \</a:t>
            </a:r>
            <a:br>
              <a:rPr sz="1000"/>
            </a:br>
            <a:r>
              <a:rPr sz="1000"/>
              <a:t>  --private keys/private.pem \</a:t>
            </a:r>
            <a:br>
              <a:rPr sz="1000"/>
            </a:br>
            <a:r>
              <a:rPr sz="1000"/>
              <a:t>  --public  keys/public.pem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924" y="4240113"/>
            <a:ext cx="3105149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00">
                <a:solidFill>
                  <a:srgbClr val="8B949E"/>
                </a:solidFill>
              </a:defRPr>
            </a:pPr>
            <a:r>
              <a:rPr sz="1000" dirty="0"/>
              <a:t>Generates RSA-2048 key pair with SHA-256 fingerprint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43424" y="2864792"/>
            <a:ext cx="3105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800" b="1">
                <a:solidFill>
                  <a:srgbClr val="E3B341"/>
                </a:solidFill>
              </a:defRPr>
            </a:pPr>
            <a:r>
              <a:t>Step 2: Encrypt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88957" y="3392684"/>
            <a:ext cx="3105149" cy="615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25">
                <a:solidFill>
                  <a:srgbClr val="E6EDF3"/>
                </a:solidFill>
              </a:defRPr>
            </a:pPr>
            <a:r>
              <a:rPr sz="1000"/>
              <a:t>python cli.py encrypt \</a:t>
            </a:r>
            <a:br>
              <a:rPr sz="1000"/>
            </a:br>
            <a:r>
              <a:rPr sz="1000"/>
              <a:t>  --input  secret.txt \</a:t>
            </a:r>
            <a:br>
              <a:rPr sz="1000"/>
            </a:br>
            <a:r>
              <a:rPr sz="1000"/>
              <a:t>  --output secret.enc \</a:t>
            </a:r>
            <a:br>
              <a:rPr sz="1000"/>
            </a:br>
            <a:r>
              <a:rPr sz="1000"/>
              <a:t>  --key    keys/public.pem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3424" y="4428678"/>
            <a:ext cx="3105149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00">
                <a:solidFill>
                  <a:srgbClr val="8B949E"/>
                </a:solidFill>
              </a:defRPr>
            </a:pPr>
            <a:r>
              <a:rPr sz="1000" dirty="0"/>
              <a:t>Produces encrypted .enc bundle unreadable without private key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62924" y="2864792"/>
            <a:ext cx="3105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800" b="1">
                <a:solidFill>
                  <a:srgbClr val="3FB950"/>
                </a:solidFill>
              </a:defRPr>
            </a:pPr>
            <a:r>
              <a:t>Step 3: Decrypt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08457" y="3392684"/>
            <a:ext cx="3105149" cy="615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25">
                <a:solidFill>
                  <a:srgbClr val="E6EDF3"/>
                </a:solidFill>
              </a:defRPr>
            </a:pPr>
            <a:r>
              <a:rPr sz="1000"/>
              <a:t>python cli.py decrypt \</a:t>
            </a:r>
            <a:br>
              <a:rPr sz="1000"/>
            </a:br>
            <a:r>
              <a:rPr sz="1000"/>
              <a:t>  --input  secret.enc \</a:t>
            </a:r>
            <a:br>
              <a:rPr sz="1000"/>
            </a:br>
            <a:r>
              <a:rPr sz="1000"/>
              <a:t>  --output recovered.txt \</a:t>
            </a:r>
            <a:br>
              <a:rPr sz="1000"/>
            </a:br>
            <a:r>
              <a:rPr sz="1000"/>
              <a:t>  --key    keys/private.pem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2924" y="4428678"/>
            <a:ext cx="3105149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00">
                <a:solidFill>
                  <a:srgbClr val="8B949E"/>
                </a:solidFill>
              </a:defRPr>
            </a:pPr>
            <a:r>
              <a:rPr sz="1000"/>
              <a:t>HMAC verified first; plaintext restored if integrity 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8224" y="5483869"/>
            <a:ext cx="10115549" cy="3381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25">
                <a:solidFill>
                  <a:srgbClr val="8B949E"/>
                </a:solidFill>
              </a:defRPr>
            </a:pPr>
            <a:r>
              <a:t>Tamper Detection Demo: Flip bits in .enc file → INTEGRITY CHECK FAILED → Decryption aborted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emp_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388"/>
            <a:ext cx="12198020" cy="6861387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5199" y="1383307"/>
            <a:ext cx="937170" cy="333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>
                <a:solidFill>
                  <a:srgbClr val="BC8CFF"/>
                </a:solidFill>
              </a:defRPr>
            </a:pPr>
            <a:r>
              <a:rPr dirty="0"/>
              <a:t>GUI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99" y="1691282"/>
            <a:ext cx="10667999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850" b="1">
                <a:solidFill>
                  <a:srgbClr val="F0F6FC"/>
                </a:solidFill>
              </a:defRPr>
            </a:pPr>
            <a:r>
              <a:t>Desktop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4" y="2691407"/>
            <a:ext cx="4629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BC8CFF"/>
                </a:solidFill>
              </a:defRPr>
            </a:pPr>
            <a:r>
              <a:t>User-Friendly Interface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8224" y="3120032"/>
            <a:ext cx="4629149" cy="645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275">
                <a:solidFill>
                  <a:srgbClr val="8B949E"/>
                </a:solidFill>
              </a:defRPr>
            </a:pPr>
            <a:r>
              <a:t>We built a fully featured PyQt6 Desktop Application to make encryption accessible to non-technical users.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8724" y="3784699"/>
            <a:ext cx="443864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50">
                <a:solidFill>
                  <a:srgbClr val="F0F6FC"/>
                </a:solidFill>
              </a:defRPr>
            </a:pPr>
            <a:r>
              <a:rPr sz="1100"/>
              <a:t>Dashboard: Real-time system 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8724" y="4024610"/>
            <a:ext cx="443864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50">
                <a:solidFill>
                  <a:srgbClr val="F0F6FC"/>
                </a:solidFill>
              </a:defRPr>
            </a:pPr>
            <a:r>
              <a:rPr sz="1100"/>
              <a:t>Key Generation: One-click RSA key pairs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28724" y="4264521"/>
            <a:ext cx="443864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50">
                <a:solidFill>
                  <a:srgbClr val="F0F6FC"/>
                </a:solidFill>
              </a:defRPr>
            </a:pPr>
            <a:r>
              <a:rPr sz="1100"/>
              <a:t>File Pickers: Easy browse for files &amp; keys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8724" y="4504432"/>
            <a:ext cx="443864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50">
                <a:solidFill>
                  <a:srgbClr val="F0F6FC"/>
                </a:solidFill>
              </a:defRPr>
            </a:pPr>
            <a:r>
              <a:rPr sz="1100"/>
              <a:t>Live Logging: See background tasks run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4624" y="2691407"/>
            <a:ext cx="4629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58A6FF"/>
                </a:solidFill>
              </a:defRPr>
            </a:pPr>
            <a:r>
              <a:t>Standalone Executable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5597" y="3209120"/>
            <a:ext cx="174730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>
                <a:solidFill>
                  <a:srgbClr val="E6EDF3"/>
                </a:solidFill>
              </a:defRPr>
            </a:pPr>
            <a:r>
              <a:rPr sz="1100" dirty="0" err="1"/>
              <a:t>dist</a:t>
            </a:r>
            <a:r>
              <a:rPr sz="1100" dirty="0"/>
              <a:t>\HybridCrypto.exe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4624" y="3668613"/>
            <a:ext cx="4629149" cy="3056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8B949E"/>
                </a:solidFill>
              </a:defRPr>
            </a:pPr>
            <a:r>
              <a:t>No Python installation required. Double-click to run on any Windows machine.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4624" y="4507706"/>
            <a:ext cx="4629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3FB950"/>
                </a:solidFill>
              </a:defRPr>
            </a:pPr>
            <a:r>
              <a:t>Threaded Operations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4624" y="4860131"/>
            <a:ext cx="4629149" cy="3347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8B949E"/>
                </a:solidFill>
              </a:defRPr>
            </a:pPr>
            <a:r>
              <a:rPr dirty="0"/>
              <a:t>Heavy </a:t>
            </a:r>
            <a:r>
              <a:rPr sz="1200" dirty="0"/>
              <a:t>cryptographic</a:t>
            </a:r>
            <a:r>
              <a:rPr dirty="0"/>
              <a:t> tasks run on background threads, ensuring the UI remains perfectly smooth and responsive.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emp_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75359" y="940594"/>
            <a:ext cx="858142" cy="333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>
                <a:solidFill>
                  <a:srgbClr val="3FB950"/>
                </a:solidFill>
              </a:defRPr>
            </a:pPr>
            <a:r>
              <a:rPr dirty="0"/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99" y="1247775"/>
            <a:ext cx="10667999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850" b="1">
                <a:solidFill>
                  <a:srgbClr val="F0F6FC"/>
                </a:solidFill>
              </a:defRPr>
            </a:pPr>
            <a:r>
              <a:t>Test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4" y="2247900"/>
            <a:ext cx="4629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58A6FF"/>
                </a:solidFill>
              </a:defRPr>
            </a:pPr>
            <a:r>
              <a:t>Test Suite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99702" y="2781302"/>
            <a:ext cx="3256359" cy="485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50" b="1">
                <a:solidFill>
                  <a:srgbClr val="58A6FF"/>
                </a:solidFill>
              </a:defRPr>
            </a:pPr>
            <a:r>
              <a:rPr dirty="0"/>
              <a:t>Test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6062" y="2781302"/>
            <a:ext cx="1372790" cy="485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50" b="1">
                <a:solidFill>
                  <a:srgbClr val="58A6FF"/>
                </a:solidFill>
              </a:defRPr>
            </a:pPr>
            <a:r>
              <a:t>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99702" y="3171827"/>
            <a:ext cx="3256359" cy="4714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Empty file (0 bytes)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56062" y="3171827"/>
            <a:ext cx="1372790" cy="4714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PASS 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9702" y="3548064"/>
            <a:ext cx="3256359" cy="476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Small text (27 bytes)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6062" y="3548064"/>
            <a:ext cx="1372790" cy="476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PASS 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9702" y="3929064"/>
            <a:ext cx="3256359" cy="476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Multiline text (440 bytes)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6062" y="3929064"/>
            <a:ext cx="1372790" cy="476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PASS 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9702" y="4310064"/>
            <a:ext cx="3256359" cy="476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Binary data (4 KB)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6062" y="4310064"/>
            <a:ext cx="1372790" cy="476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PASS 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9702" y="4691064"/>
            <a:ext cx="3256359" cy="476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Large file (512 KB)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6062" y="4691064"/>
            <a:ext cx="1372790" cy="476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PASS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99702" y="5072064"/>
            <a:ext cx="3256359" cy="476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Tamper detection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6062" y="5072064"/>
            <a:ext cx="1372790" cy="476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PASS 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99702" y="5453064"/>
            <a:ext cx="3256359" cy="4714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SHA-256 hash match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6062" y="5453064"/>
            <a:ext cx="1372790" cy="4714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PASS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24624" y="2247900"/>
            <a:ext cx="4629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E3B341"/>
                </a:solidFill>
              </a:defRPr>
            </a:pPr>
            <a:r>
              <a:t>Performance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24624" y="2638425"/>
            <a:ext cx="1535161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Key Generation (2048-bit)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4119" y="2638425"/>
            <a:ext cx="329654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58A6FF"/>
                </a:solidFill>
              </a:defRPr>
            </a:pPr>
            <a:r>
              <a:t>~0.5s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24624" y="3057525"/>
            <a:ext cx="1153715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1 MB file encryption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56117" y="3057525"/>
            <a:ext cx="297656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3FB950"/>
                </a:solidFill>
              </a:defRPr>
            </a:pPr>
            <a:r>
              <a:t>&lt;0.1s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24624" y="3476625"/>
            <a:ext cx="1156394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1 MB file decryption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56117" y="3476625"/>
            <a:ext cx="297656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3FB950"/>
                </a:solidFill>
              </a:defRPr>
            </a:pPr>
            <a:r>
              <a:t>&lt;0.1s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24624" y="3895725"/>
            <a:ext cx="1309985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100 MB file encryption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26798" y="3895725"/>
            <a:ext cx="326975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E3B341"/>
                </a:solidFill>
              </a:defRPr>
            </a:pPr>
            <a:r>
              <a:t>~3.5s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24624" y="4943475"/>
            <a:ext cx="4629149" cy="7636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8B949E"/>
                </a:solidFill>
              </a:defRPr>
            </a:pPr>
            <a:r>
              <a:t>✓ SHA-256 hashes match before/after in all test cases</a:t>
            </a:r>
            <a:br/>
            <a:r>
              <a:t>✓ All 10 unit tests pass (0 failures)</a:t>
            </a:r>
            <a:br/>
            <a:r>
              <a:t>✓ Supports text, binary, PDF, image files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emp_slid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00759" y="1084658"/>
            <a:ext cx="938510" cy="333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>
                <a:solidFill>
                  <a:srgbClr val="58A6FF"/>
                </a:solidFill>
              </a:defRPr>
            </a:pPr>
            <a:r>
              <a:t>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99" y="1390054"/>
            <a:ext cx="10667999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850" b="1">
                <a:solidFill>
                  <a:srgbClr val="F0F6FC"/>
                </a:solidFill>
              </a:defRPr>
            </a:pPr>
            <a:r>
              <a:t>Security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4" y="2390179"/>
            <a:ext cx="4629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3FB950"/>
                </a:solidFill>
              </a:defRPr>
            </a:pPr>
            <a:r>
              <a:t>Strengths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8224" y="2799754"/>
            <a:ext cx="1955303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Brute-force resistance (AES-256)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85494" y="2799754"/>
            <a:ext cx="281880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3FB950"/>
                </a:solidFill>
              </a:defRPr>
            </a:pPr>
            <a:r>
              <a:t>MAX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8224" y="3218854"/>
            <a:ext cx="2056804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Key exchange security (RSA-2048)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57663" y="3218854"/>
            <a:ext cx="309711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3FB950"/>
                </a:solidFill>
              </a:defRPr>
            </a:pPr>
            <a:r>
              <a:t>HIGH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224" y="3637954"/>
            <a:ext cx="2066776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Tamper detection (HMAC-SHA256)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85494" y="3637954"/>
            <a:ext cx="281880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3FB950"/>
                </a:solidFill>
              </a:defRPr>
            </a:pPr>
            <a:r>
              <a:t>MAX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224" y="4057054"/>
            <a:ext cx="1971079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Padding oracle resistance (OAEP)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57663" y="4057054"/>
            <a:ext cx="309711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3FB950"/>
                </a:solidFill>
              </a:defRPr>
            </a:pPr>
            <a:r>
              <a:t>HIGH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8224" y="4476154"/>
            <a:ext cx="1939825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F0F6FC"/>
                </a:solidFill>
              </a:defRPr>
            </a:pPr>
            <a:r>
              <a:t>Pattern concealment (random IV)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5494" y="4476154"/>
            <a:ext cx="281880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3FB950"/>
                </a:solidFill>
              </a:defRPr>
            </a:pPr>
            <a:r>
              <a:t>MAX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4624" y="2390179"/>
            <a:ext cx="4629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E3B341"/>
                </a:solidFill>
              </a:defRPr>
            </a:pPr>
            <a:r>
              <a:t>Known Limitations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4624" y="2780704"/>
            <a:ext cx="4629149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8B949E"/>
                </a:solidFill>
              </a:defRPr>
            </a:pPr>
            <a:r>
              <a:rPr sz="1200" dirty="0"/>
              <a:t>• Private key stored unencrypted on disk</a:t>
            </a:r>
            <a:br>
              <a:rPr sz="1200" dirty="0"/>
            </a:br>
            <a:r>
              <a:rPr sz="1200" dirty="0"/>
              <a:t>• No perfect forward secrecy (RSA reuse)</a:t>
            </a:r>
            <a:br>
              <a:rPr sz="1200" dirty="0"/>
            </a:br>
            <a:r>
              <a:rPr sz="1200" dirty="0"/>
              <a:t>• No key revocation mechanism</a:t>
            </a:r>
            <a:br>
              <a:rPr sz="1200" dirty="0"/>
            </a:br>
            <a:r>
              <a:rPr sz="1200" dirty="0"/>
              <a:t>• Single-recipient encryption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4624" y="4300537"/>
            <a:ext cx="4629149" cy="3714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58A6FF"/>
                </a:solidFill>
              </a:defRPr>
            </a:pPr>
            <a:r>
              <a:t>Future Improvements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24624" y="4691062"/>
            <a:ext cx="4629149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75">
                <a:solidFill>
                  <a:srgbClr val="8B949E"/>
                </a:solidFill>
              </a:defRPr>
            </a:pPr>
            <a:r>
              <a:rPr sz="1200"/>
              <a:t>• Passphrase-protected private key (AES-256-GCM wrapping)</a:t>
            </a:r>
            <a:br>
              <a:rPr sz="1200"/>
            </a:br>
            <a:r>
              <a:rPr sz="1200"/>
              <a:t>• Digital signatures (RSA + SHA-256)</a:t>
            </a:r>
            <a:br>
              <a:rPr sz="1200"/>
            </a:br>
            <a:r>
              <a:rPr sz="1200"/>
              <a:t>• Elliptic Curve Cryptography (ECDH)</a:t>
            </a:r>
            <a:br>
              <a:rPr sz="1200"/>
            </a:br>
            <a:r>
              <a:rPr sz="1200"/>
              <a:t>• Multi-recipient support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emp_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42048" y="778668"/>
            <a:ext cx="1307901" cy="13620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7500">
                <a:solidFill>
                  <a:srgbClr val="F0F6FC"/>
                </a:solidFill>
              </a:defRPr>
            </a:pPr>
            <a:r>
              <a:t>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61196" y="2045493"/>
            <a:ext cx="4469605" cy="6316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3840" b="1">
                <a:solidFill>
                  <a:srgbClr val="F0F6FC"/>
                </a:solidFill>
              </a:defRPr>
            </a:pPr>
            <a:r>
              <a:t>Project Completed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57499" y="2696170"/>
            <a:ext cx="6476999" cy="918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200">
                <a:solidFill>
                  <a:srgbClr val="8B949E"/>
                </a:solidFill>
              </a:defRPr>
            </a:pPr>
            <a:r>
              <a:t>We successfully implemented a Secure File Encryption System combining RSA-2048, AES-256-CBC, and HMAC-SHA256. The system provides confidentiality, integrity, and authenticity for any file type.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55938" y="5852666"/>
            <a:ext cx="2880121" cy="321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050">
                <a:solidFill>
                  <a:srgbClr val="8B949E"/>
                </a:solidFill>
              </a:defRPr>
            </a:pPr>
            <a:r>
              <a:t>Information Security — Group Project  | 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1129</Words>
  <Application>Microsoft Office PowerPoint</Application>
  <PresentationFormat>Widescreen</PresentationFormat>
  <Paragraphs>156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FA23-BCS-167(WAQAS UL HASAN)</cp:lastModifiedBy>
  <cp:revision>2</cp:revision>
  <dcterms:created xsi:type="dcterms:W3CDTF">2013-01-27T09:14:16Z</dcterms:created>
  <dcterms:modified xsi:type="dcterms:W3CDTF">2026-05-24T12:57:09Z</dcterms:modified>
  <cp:category/>
</cp:coreProperties>
</file>