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9" d="100"/>
          <a:sy n="79" d="100"/>
        </p:scale>
        <p:origin x="806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10.png"/><Relationship Id="rId10" Type="http://schemas.openxmlformats.org/officeDocument/2006/relationships/image" Target="../media/image44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0_export-gfx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081" y="4391322"/>
            <a:ext cx="935235" cy="238125"/>
          </a:xfrm>
          <a:prstGeom prst="rect">
            <a:avLst/>
          </a:prstGeom>
        </p:spPr>
      </p:pic>
      <p:pic>
        <p:nvPicPr>
          <p:cNvPr id="4" name="Picture 3" descr="gfx_0_export-gfx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617" y="4391322"/>
            <a:ext cx="1178867" cy="238125"/>
          </a:xfrm>
          <a:prstGeom prst="rect">
            <a:avLst/>
          </a:prstGeom>
        </p:spPr>
      </p:pic>
      <p:pic>
        <p:nvPicPr>
          <p:cNvPr id="5" name="Picture 4" descr="gfx_0_export-gfx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2785" y="4391322"/>
            <a:ext cx="1254323" cy="238125"/>
          </a:xfrm>
          <a:prstGeom prst="rect">
            <a:avLst/>
          </a:prstGeom>
        </p:spPr>
      </p:pic>
      <p:pic>
        <p:nvPicPr>
          <p:cNvPr id="6" name="Picture 5" descr="gfx_0_export-gfx-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1408" y="4391322"/>
            <a:ext cx="1656010" cy="238125"/>
          </a:xfrm>
          <a:prstGeom prst="rect">
            <a:avLst/>
          </a:prstGeom>
        </p:spPr>
      </p:pic>
      <p:pic>
        <p:nvPicPr>
          <p:cNvPr id="7" name="Picture 6" descr="gfx_0_export-gfx-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250" y="4819947"/>
            <a:ext cx="2666999" cy="19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2868" y="1170498"/>
            <a:ext cx="1046261" cy="1104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000">
                <a:solidFill>
                  <a:srgbClr val="F0F6FC"/>
                </a:solidFill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3197" y="2404616"/>
            <a:ext cx="8165454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200" b="1">
                <a:solidFill>
                  <a:srgbClr val="F0F6FC"/>
                </a:solidFill>
              </a:defRPr>
            </a:pPr>
            <a:r>
              <a:rPr lang="en-US" dirty="0"/>
              <a:t>Secure File Encryption System</a:t>
            </a:r>
            <a:br>
              <a:rPr lang="en-US" dirty="0"/>
            </a:br>
            <a:r>
              <a:rPr lang="en-US" dirty="0"/>
              <a:t>using Hybrid Cryptography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4577" y="3730376"/>
            <a:ext cx="3702694" cy="4513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50">
                <a:solidFill>
                  <a:srgbClr val="8B949E"/>
                </a:solidFill>
              </a:defRPr>
            </a:pPr>
            <a:r>
              <a:t>Information Security — Group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6520" y="4430026"/>
            <a:ext cx="935235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</a:defRPr>
            </a:pPr>
            <a:r>
              <a:rPr dirty="0"/>
              <a:t>RSA-2048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6056" y="4430026"/>
            <a:ext cx="1178867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E3B341"/>
                </a:solidFill>
              </a:defRPr>
            </a:pPr>
            <a:r>
              <a:t>AES-256-CBC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9872" y="4430026"/>
            <a:ext cx="1254323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</a:defRPr>
            </a:pPr>
            <a:r>
              <a:rPr dirty="0"/>
              <a:t>HMAC-SHA256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3959" y="4430026"/>
            <a:ext cx="165601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BC8CFF"/>
                </a:solidFill>
              </a:defRPr>
            </a:pPr>
            <a:r>
              <a:t>PyQt6 Desktop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755" y="5410497"/>
            <a:ext cx="562477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>
                <a:solidFill>
                  <a:srgbClr val="8B949E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Presented by: Waqas Ul Hasan (FA23-BCS-167) &amp;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Qurat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Ul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(FA23-BCS-195)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1_export-gfx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253132"/>
            <a:ext cx="1289000" cy="238125"/>
          </a:xfrm>
          <a:prstGeom prst="rect">
            <a:avLst/>
          </a:prstGeom>
        </p:spPr>
      </p:pic>
      <p:pic>
        <p:nvPicPr>
          <p:cNvPr id="4" name="Picture 3" descr="gfx_1_export-gfx-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367557"/>
            <a:ext cx="3428999" cy="2273349"/>
          </a:xfrm>
          <a:prstGeom prst="rect">
            <a:avLst/>
          </a:prstGeom>
        </p:spPr>
      </p:pic>
      <p:pic>
        <p:nvPicPr>
          <p:cNvPr id="5" name="Picture 4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4" y="2605682"/>
            <a:ext cx="3105149" cy="504825"/>
          </a:xfrm>
          <a:prstGeom prst="rect">
            <a:avLst/>
          </a:prstGeom>
        </p:spPr>
      </p:pic>
      <p:pic>
        <p:nvPicPr>
          <p:cNvPr id="6" name="Picture 5" descr="gfx_1_export-gfx-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499" y="2367557"/>
            <a:ext cx="3428999" cy="2273349"/>
          </a:xfrm>
          <a:prstGeom prst="rect">
            <a:avLst/>
          </a:prstGeom>
        </p:spPr>
      </p:pic>
      <p:pic>
        <p:nvPicPr>
          <p:cNvPr id="7" name="Picture 6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4" y="2605682"/>
            <a:ext cx="3105149" cy="504825"/>
          </a:xfrm>
          <a:prstGeom prst="rect">
            <a:avLst/>
          </a:prstGeom>
        </p:spPr>
      </p:pic>
      <p:pic>
        <p:nvPicPr>
          <p:cNvPr id="8" name="Picture 7" descr="gfx_1_export-gfx-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9" y="2367557"/>
            <a:ext cx="3428999" cy="2273349"/>
          </a:xfrm>
          <a:prstGeom prst="rect">
            <a:avLst/>
          </a:prstGeom>
        </p:spPr>
      </p:pic>
      <p:pic>
        <p:nvPicPr>
          <p:cNvPr id="9" name="Picture 8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924" y="2605682"/>
            <a:ext cx="3105149" cy="504825"/>
          </a:xfrm>
          <a:prstGeom prst="rect">
            <a:avLst/>
          </a:prstGeom>
        </p:spPr>
      </p:pic>
      <p:pic>
        <p:nvPicPr>
          <p:cNvPr id="10" name="Picture 9" descr="gfx_1_export-gfx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99" y="4869507"/>
            <a:ext cx="10667999" cy="7352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3576" y="1296675"/>
            <a:ext cx="12890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</a:defRPr>
            </a:pPr>
            <a:r>
              <a:rPr dirty="0"/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1605557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The Problem: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4" y="2605682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rPr dirty="0"/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4" y="3224807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Data in Transit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4" y="3577232"/>
            <a:ext cx="3105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75">
                <a:solidFill>
                  <a:srgbClr val="8B949E"/>
                </a:solidFill>
              </a:defRPr>
            </a:pPr>
            <a:r>
              <a:t>Files sent over networks can be intercepted by attackers using packet sniffing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424" y="2605682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4" y="3224807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Data at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3424" y="3577232"/>
            <a:ext cx="3105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75">
                <a:solidFill>
                  <a:srgbClr val="8B949E"/>
                </a:solidFill>
              </a:defRPr>
            </a:pPr>
            <a:r>
              <a:t>Files stored on disk are vulnerable if a system is compromised or storage is stolen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924" y="2605682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2924" y="3224807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Key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2924" y="3577232"/>
            <a:ext cx="3105149" cy="920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75">
                <a:solidFill>
                  <a:srgbClr val="8B949E"/>
                </a:solidFill>
              </a:defRPr>
            </a:pPr>
            <a:r>
              <a:t>Symmetric encryption alone can't securely share the secret key between parties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4" y="5107632"/>
            <a:ext cx="1011554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B949E"/>
                </a:solidFill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Solution: Combine symmetric speed with asymmetric security — Hybrid Cryptography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2_export-gfx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952500"/>
            <a:ext cx="813643" cy="238125"/>
          </a:xfrm>
          <a:prstGeom prst="rect">
            <a:avLst/>
          </a:prstGeom>
        </p:spPr>
      </p:pic>
      <p:pic>
        <p:nvPicPr>
          <p:cNvPr id="4" name="Picture 3" descr="gfx_2_export-gfx-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066924"/>
            <a:ext cx="5181599" cy="2762250"/>
          </a:xfrm>
          <a:prstGeom prst="rect">
            <a:avLst/>
          </a:prstGeom>
        </p:spPr>
      </p:pic>
      <p:pic>
        <p:nvPicPr>
          <p:cNvPr id="5" name="Picture 4" descr="gfx_2_export-gfx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4" y="2695575"/>
            <a:ext cx="4629149" cy="1895475"/>
          </a:xfrm>
          <a:prstGeom prst="rect">
            <a:avLst/>
          </a:prstGeom>
        </p:spPr>
      </p:pic>
      <p:pic>
        <p:nvPicPr>
          <p:cNvPr id="6" name="Picture 5" descr="gfx_2_export-gfx-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399" y="2066924"/>
            <a:ext cx="5181599" cy="2762250"/>
          </a:xfrm>
          <a:prstGeom prst="rect">
            <a:avLst/>
          </a:prstGeom>
        </p:spPr>
      </p:pic>
      <p:pic>
        <p:nvPicPr>
          <p:cNvPr id="7" name="Picture 6" descr="gfx_2_export-gfx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4" y="2695575"/>
            <a:ext cx="4629149" cy="1895475"/>
          </a:xfrm>
          <a:prstGeom prst="rect">
            <a:avLst/>
          </a:prstGeom>
        </p:spPr>
      </p:pic>
      <p:pic>
        <p:nvPicPr>
          <p:cNvPr id="8" name="Picture 7" descr="gfx_2_export-gfx-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99" y="5057775"/>
            <a:ext cx="10667999" cy="847725"/>
          </a:xfrm>
          <a:prstGeom prst="rect">
            <a:avLst/>
          </a:prstGeom>
        </p:spPr>
      </p:pic>
      <p:pic>
        <p:nvPicPr>
          <p:cNvPr id="9" name="Picture 8" descr="gfx_2_export-gfx-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5396" y="5295900"/>
            <a:ext cx="1081236" cy="371475"/>
          </a:xfrm>
          <a:prstGeom prst="rect">
            <a:avLst/>
          </a:prstGeom>
        </p:spPr>
      </p:pic>
      <p:pic>
        <p:nvPicPr>
          <p:cNvPr id="10" name="Picture 9" descr="gfx_2_export-gfx-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9532" y="5300662"/>
            <a:ext cx="1393180" cy="361950"/>
          </a:xfrm>
          <a:prstGeom prst="rect">
            <a:avLst/>
          </a:prstGeom>
        </p:spPr>
      </p:pic>
      <p:pic>
        <p:nvPicPr>
          <p:cNvPr id="11" name="Picture 10" descr="gfx_2_export-gfx-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5612" y="5295900"/>
            <a:ext cx="1193899" cy="371475"/>
          </a:xfrm>
          <a:prstGeom prst="rect">
            <a:avLst/>
          </a:prstGeom>
        </p:spPr>
      </p:pic>
      <p:pic>
        <p:nvPicPr>
          <p:cNvPr id="12" name="Picture 11" descr="gfx_2_export-gfx-2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7712" y="5295900"/>
            <a:ext cx="1019770" cy="371475"/>
          </a:xfrm>
          <a:prstGeom prst="rect">
            <a:avLst/>
          </a:prstGeom>
        </p:spPr>
      </p:pic>
      <p:pic>
        <p:nvPicPr>
          <p:cNvPr id="13" name="Picture 12" descr="gfx_2_export-gfx-2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0383" y="5300662"/>
            <a:ext cx="1482030" cy="361950"/>
          </a:xfrm>
          <a:prstGeom prst="rect">
            <a:avLst/>
          </a:prstGeom>
        </p:spPr>
      </p:pic>
      <p:pic>
        <p:nvPicPr>
          <p:cNvPr id="14" name="Picture 13" descr="gfx_2_export-gfx-2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5313" y="5295900"/>
            <a:ext cx="1271141" cy="3714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5519" y="996042"/>
            <a:ext cx="813643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BC8CFF"/>
                </a:solidFill>
              </a:defRPr>
            </a:pPr>
            <a:r>
              <a:rPr dirty="0"/>
              <a:t>THEORY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99" y="1304925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rPr dirty="0"/>
              <a:t>Why  Cryptography?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4" y="230505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3B341"/>
                </a:solidFill>
              </a:defRPr>
            </a:pPr>
            <a:r>
              <a:t>AES (Symmetric)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4" y="2802011"/>
            <a:ext cx="46291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✅ Extremely 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4" y="3178248"/>
            <a:ext cx="46291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✅ Handles any file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4" y="3559248"/>
            <a:ext cx="46291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✅ Low CPU overhead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4" y="3940248"/>
            <a:ext cx="46291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❌ Key distribution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4" y="4321248"/>
            <a:ext cx="46291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❌ Both parties need same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4" y="230505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RSA (Asymmetric)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4" y="2802011"/>
            <a:ext cx="46291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✅ Solves key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4" y="3178248"/>
            <a:ext cx="46291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✅ Public key freely shared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4" y="3559248"/>
            <a:ext cx="46291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✅ Private key never transmitted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4" y="3940248"/>
            <a:ext cx="46291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❌ Slow — can't encrypt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624" y="4321248"/>
            <a:ext cx="462914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❌ Limited data size (~214 bytes)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5396" y="5402336"/>
            <a:ext cx="108123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sz="1050"/>
              <a:t>📄 File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2832" y="5367337"/>
            <a:ext cx="190499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9532" y="5407098"/>
            <a:ext cx="139317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sz="1050" dirty="0"/>
              <a:t>AES-256 Encrypt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912" y="5367337"/>
            <a:ext cx="190499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5612" y="5402336"/>
            <a:ext cx="119389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sz="1050" dirty="0"/>
              <a:t>🔒 Ciphertext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8111" y="5367337"/>
            <a:ext cx="634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>
                <a:solidFill>
                  <a:srgbClr val="8B949E"/>
                </a:solidFill>
              </a:defRPr>
            </a:pPr>
            <a:r>
              <a:t>|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7712" y="5402336"/>
            <a:ext cx="101977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sz="1050"/>
              <a:t>🗝 AES 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3682" y="5367337"/>
            <a:ext cx="190499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0382" y="5407098"/>
            <a:ext cx="148203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sz="1050"/>
              <a:t>RSA-2048 Encrypt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8612" y="5367337"/>
            <a:ext cx="190499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500">
                <a:solidFill>
                  <a:srgbClr val="8B949E"/>
                </a:solidFill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5312" y="5402336"/>
            <a:ext cx="127114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 b="1">
                <a:solidFill>
                  <a:srgbClr val="58A6FF"/>
                </a:solidFill>
              </a:defRPr>
            </a:pPr>
            <a:r>
              <a:rPr sz="1050"/>
              <a:t>📦 .enc Bundle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3_export-gfx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006375"/>
            <a:ext cx="1297483" cy="238125"/>
          </a:xfrm>
          <a:prstGeom prst="rect">
            <a:avLst/>
          </a:prstGeom>
        </p:spPr>
      </p:pic>
      <p:pic>
        <p:nvPicPr>
          <p:cNvPr id="4" name="Picture 3" descr="gfx_3_export-gfx-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120800"/>
            <a:ext cx="10667999" cy="1885950"/>
          </a:xfrm>
          <a:prstGeom prst="rect">
            <a:avLst/>
          </a:prstGeom>
        </p:spPr>
      </p:pic>
      <p:pic>
        <p:nvPicPr>
          <p:cNvPr id="5" name="Picture 4" descr="gfx_3_export-gfx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99" y="4197250"/>
            <a:ext cx="5181599" cy="1654224"/>
          </a:xfrm>
          <a:prstGeom prst="rect">
            <a:avLst/>
          </a:prstGeom>
        </p:spPr>
      </p:pic>
      <p:pic>
        <p:nvPicPr>
          <p:cNvPr id="6" name="Picture 5" descr="gfx_3_export-gfx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399" y="4197250"/>
            <a:ext cx="5181599" cy="16542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4551" y="1054756"/>
            <a:ext cx="1297483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E3B341"/>
                </a:solidFill>
              </a:defRPr>
            </a:pPr>
            <a:r>
              <a:rPr dirty="0"/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1358800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Cryptographic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932" y="2225575"/>
            <a:ext cx="162222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rPr sz="1050"/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3158" y="2225575"/>
            <a:ext cx="203983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rPr sz="1050"/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2996" y="2225575"/>
            <a:ext cx="164202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rPr sz="1050"/>
              <a:t>Key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017" y="2225575"/>
            <a:ext cx="226382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rPr sz="1050"/>
              <a:t>Mode/Variant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8841" y="2225575"/>
            <a:ext cx="309056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>
                <a:solidFill>
                  <a:srgbClr val="58A6FF"/>
                </a:solidFill>
              </a:defRPr>
            </a:pPr>
            <a:r>
              <a:rPr sz="1050"/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932" y="2620862"/>
            <a:ext cx="162222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AES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3158" y="2620862"/>
            <a:ext cx="203983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Symmetric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2996" y="2620862"/>
            <a:ext cx="164202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256-bit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017" y="2620862"/>
            <a:ext cx="226382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CBC + PKCS7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8841" y="2620862"/>
            <a:ext cx="309056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Encrypt file content (fast)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32" y="2987575"/>
            <a:ext cx="162222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RSA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3158" y="2987575"/>
            <a:ext cx="203983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Asymmetric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2996" y="2987575"/>
            <a:ext cx="164202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2048-bit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017" y="2987575"/>
            <a:ext cx="226382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OAEP + SHA-256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8841" y="2987575"/>
            <a:ext cx="309056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Encrypt AES session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32" y="3359050"/>
            <a:ext cx="162222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HMAC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3158" y="3359050"/>
            <a:ext cx="203983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MAC / Integrity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2996" y="3359050"/>
            <a:ext cx="164202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256-bit tag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017" y="3359050"/>
            <a:ext cx="226382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SHA-256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8841" y="3359050"/>
            <a:ext cx="309056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Detect tampering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32" y="3730525"/>
            <a:ext cx="162222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IV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3158" y="3730525"/>
            <a:ext cx="203983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Randomness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2996" y="3730525"/>
            <a:ext cx="164202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128-bit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017" y="3730525"/>
            <a:ext cx="226382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CSPRNG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8841" y="3730525"/>
            <a:ext cx="309056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rPr sz="1050"/>
              <a:t>Prevent pattern leakage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224" y="4435375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OAEP Padding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224" y="4787800"/>
            <a:ext cx="462914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rPr sz="1400" dirty="0"/>
              <a:t>Optimal Asymmetric Encryption Padding adds randomness to RSA, preventing deterministic outputs and chosen-ciphertext attacks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624" y="4435375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Encrypt-then-MAC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4624" y="4787800"/>
            <a:ext cx="462914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rPr sz="1400"/>
              <a:t>HMAC is computed over ciphertext after encryption — provably secure ordering that detects tampering before decryption begins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4_export-gfx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603795"/>
            <a:ext cx="1445567" cy="238125"/>
          </a:xfrm>
          <a:prstGeom prst="rect">
            <a:avLst/>
          </a:prstGeom>
        </p:spPr>
      </p:pic>
      <p:pic>
        <p:nvPicPr>
          <p:cNvPr id="4" name="Picture 3" descr="gfx_4_export-gfx-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175420"/>
            <a:ext cx="5181599" cy="438149"/>
          </a:xfrm>
          <a:prstGeom prst="rect">
            <a:avLst/>
          </a:prstGeom>
        </p:spPr>
      </p:pic>
      <p:pic>
        <p:nvPicPr>
          <p:cNvPr id="5" name="Picture 4" descr="gfx_4_export-gfx-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99" y="2708820"/>
            <a:ext cx="5181599" cy="438149"/>
          </a:xfrm>
          <a:prstGeom prst="rect">
            <a:avLst/>
          </a:prstGeom>
        </p:spPr>
      </p:pic>
      <p:pic>
        <p:nvPicPr>
          <p:cNvPr id="6" name="Picture 5" descr="gfx_4_export-gfx-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99" y="3242220"/>
            <a:ext cx="5181599" cy="457200"/>
          </a:xfrm>
          <a:prstGeom prst="rect">
            <a:avLst/>
          </a:prstGeom>
        </p:spPr>
      </p:pic>
      <p:pic>
        <p:nvPicPr>
          <p:cNvPr id="7" name="Picture 6" descr="gfx_4_export-gfx-3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999" y="3794670"/>
            <a:ext cx="5181599" cy="438149"/>
          </a:xfrm>
          <a:prstGeom prst="rect">
            <a:avLst/>
          </a:prstGeom>
        </p:spPr>
      </p:pic>
      <p:pic>
        <p:nvPicPr>
          <p:cNvPr id="8" name="Picture 7" descr="gfx_4_export-gfx-3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99" y="4328070"/>
            <a:ext cx="5181599" cy="438149"/>
          </a:xfrm>
          <a:prstGeom prst="rect">
            <a:avLst/>
          </a:prstGeom>
        </p:spPr>
      </p:pic>
      <p:pic>
        <p:nvPicPr>
          <p:cNvPr id="9" name="Picture 8" descr="gfx_4_export-gfx-3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399" y="2146845"/>
            <a:ext cx="5181599" cy="3203376"/>
          </a:xfrm>
          <a:prstGeom prst="rect">
            <a:avLst/>
          </a:prstGeom>
        </p:spPr>
      </p:pic>
      <p:pic>
        <p:nvPicPr>
          <p:cNvPr id="10" name="Picture 9" descr="gfx_4_export-gfx-3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399" y="5502622"/>
            <a:ext cx="5181599" cy="7514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4547" y="637662"/>
            <a:ext cx="1445567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3FB950"/>
                </a:solidFill>
              </a:defRPr>
            </a:pPr>
            <a:r>
              <a:rPr dirty="0"/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956220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718220"/>
            <a:ext cx="5181599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🔒 Encryption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399" y="1718220"/>
            <a:ext cx="518159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.enc File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398" y="2406758"/>
            <a:ext cx="5181599" cy="2585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E6EDF3"/>
                </a:solidFill>
              </a:defRPr>
            </a:pPr>
            <a:r>
              <a:rPr sz="1200" dirty="0"/>
              <a:t>┌─────────────────────────────┐</a:t>
            </a:r>
            <a:br>
              <a:rPr sz="1200" dirty="0"/>
            </a:br>
            <a:r>
              <a:rPr sz="1200" dirty="0"/>
              <a:t>│  MAGIC HEADER   (8 bytes)  │</a:t>
            </a:r>
            <a:br>
              <a:rPr sz="1200" dirty="0"/>
            </a:br>
            <a:r>
              <a:rPr sz="1200" dirty="0"/>
              <a:t>├─────────────────────────────┤</a:t>
            </a:r>
            <a:br>
              <a:rPr sz="1200" dirty="0"/>
            </a:br>
            <a:r>
              <a:rPr sz="1200" dirty="0"/>
              <a:t>│  KEY LENGTH     (2 bytes)  │</a:t>
            </a:r>
            <a:br>
              <a:rPr sz="1200" dirty="0"/>
            </a:br>
            <a:r>
              <a:rPr sz="1200" dirty="0"/>
              <a:t>├─────────────────────────────┤</a:t>
            </a:r>
            <a:br>
              <a:rPr sz="1200" dirty="0"/>
            </a:br>
            <a:r>
              <a:rPr sz="1200" dirty="0"/>
              <a:t>│  RSA-ENCRYPTED AES KEY     │</a:t>
            </a:r>
            <a:br>
              <a:rPr sz="1200" dirty="0"/>
            </a:br>
            <a:r>
              <a:rPr sz="1200" dirty="0"/>
              <a:t>│  (256 bytes for 2048-bit)  │</a:t>
            </a:r>
            <a:br>
              <a:rPr sz="1200" dirty="0"/>
            </a:br>
            <a:r>
              <a:rPr sz="1200" dirty="0"/>
              <a:t>├─────────────────────────────┤</a:t>
            </a:r>
            <a:br>
              <a:rPr sz="1200" dirty="0"/>
            </a:br>
            <a:r>
              <a:rPr sz="1200" dirty="0"/>
              <a:t>│  AES IV         (16 bytes) │</a:t>
            </a:r>
            <a:br>
              <a:rPr sz="1200" dirty="0"/>
            </a:br>
            <a:r>
              <a:rPr sz="1200" dirty="0"/>
              <a:t>├─────────────────────────────┤</a:t>
            </a:r>
            <a:br>
              <a:rPr sz="1200" dirty="0"/>
            </a:br>
            <a:r>
              <a:rPr sz="1200" dirty="0"/>
              <a:t>│  HMAC-SHA256    (32 bytes) │</a:t>
            </a:r>
            <a:br>
              <a:rPr sz="1200" dirty="0"/>
            </a:br>
            <a:r>
              <a:rPr sz="1200" dirty="0"/>
              <a:t>├─────────────────────────────┤</a:t>
            </a:r>
            <a:br>
              <a:rPr sz="1200" dirty="0"/>
            </a:br>
            <a:r>
              <a:rPr sz="1200" dirty="0"/>
              <a:t>│  CIPHERTEXT     (variable) │</a:t>
            </a:r>
            <a:br>
              <a:rPr sz="1200" dirty="0"/>
            </a:br>
            <a:r>
              <a:rPr sz="1200" dirty="0"/>
              <a:t>└─────────────────────────────┘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4" y="5740747"/>
            <a:ext cx="4629149" cy="370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t>hybrid_crypto.py • cli.py • gui.py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5_export-gfx-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640853"/>
            <a:ext cx="647699" cy="238125"/>
          </a:xfrm>
          <a:prstGeom prst="rect">
            <a:avLst/>
          </a:prstGeom>
        </p:spPr>
      </p:pic>
      <p:pic>
        <p:nvPicPr>
          <p:cNvPr id="4" name="Picture 3" descr="gfx_5_export-gfx-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1755278"/>
            <a:ext cx="5181599" cy="4461867"/>
          </a:xfrm>
          <a:prstGeom prst="rect">
            <a:avLst/>
          </a:prstGeom>
        </p:spPr>
      </p:pic>
      <p:pic>
        <p:nvPicPr>
          <p:cNvPr id="5" name="Picture 4" descr="gfx_5_export-gfx-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399" y="1755278"/>
            <a:ext cx="5181599" cy="1971675"/>
          </a:xfrm>
          <a:prstGeom prst="rect">
            <a:avLst/>
          </a:prstGeom>
        </p:spPr>
      </p:pic>
      <p:pic>
        <p:nvPicPr>
          <p:cNvPr id="6" name="Picture 5" descr="gfx_5_export-gfx-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399" y="3879353"/>
            <a:ext cx="5181599" cy="1819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1999" y="694071"/>
            <a:ext cx="647699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BC8CFF"/>
                </a:solidFill>
              </a:defRPr>
            </a:pPr>
            <a:r>
              <a:rPr dirty="0"/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99" y="993278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4" y="2032693"/>
            <a:ext cx="5181599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2">
                <a:solidFill>
                  <a:srgbClr val="E6EDF3"/>
                </a:solidFill>
              </a:defRPr>
            </a:pPr>
            <a:r>
              <a:rPr sz="1200" dirty="0" err="1"/>
              <a:t>Crypto.Cipher</a:t>
            </a:r>
            <a:r>
              <a:rPr sz="1200" dirty="0"/>
              <a:t>  AES, PKCS1_OAEP</a:t>
            </a:r>
            <a:br>
              <a:rPr sz="1200" dirty="0"/>
            </a:br>
            <a:r>
              <a:rPr sz="1200" dirty="0"/>
              <a:t> </a:t>
            </a:r>
            <a:r>
              <a:rPr sz="1200" dirty="0" err="1"/>
              <a:t>Crypto.PublicKey</a:t>
            </a:r>
            <a:r>
              <a:rPr sz="1200" dirty="0"/>
              <a:t>  RSA</a:t>
            </a:r>
            <a:br>
              <a:rPr sz="1200" dirty="0"/>
            </a:br>
            <a:r>
              <a:rPr sz="1200" dirty="0"/>
              <a:t> </a:t>
            </a:r>
            <a:r>
              <a:rPr sz="1200" dirty="0" err="1"/>
              <a:t>Crypto.Random</a:t>
            </a:r>
            <a:r>
              <a:rPr sz="1200" dirty="0"/>
              <a:t>  </a:t>
            </a:r>
            <a:r>
              <a:rPr sz="1200" dirty="0" err="1"/>
              <a:t>get_random_bytes</a:t>
            </a:r>
            <a:br>
              <a:rPr sz="1200" dirty="0"/>
            </a:br>
            <a:br>
              <a:rPr sz="1200" dirty="0"/>
            </a:br>
            <a:br>
              <a:rPr sz="1200" dirty="0"/>
            </a:br>
            <a:r>
              <a:rPr sz="1200" dirty="0" err="1"/>
              <a:t>aes_key</a:t>
            </a:r>
            <a:r>
              <a:rPr sz="1200" dirty="0"/>
              <a:t> = ()  </a:t>
            </a:r>
            <a:br>
              <a:rPr sz="1200" dirty="0"/>
            </a:br>
            <a:r>
              <a:rPr sz="1200" dirty="0"/>
              <a:t>iv      = ()  </a:t>
            </a:r>
            <a:br>
              <a:rPr sz="1200" dirty="0"/>
            </a:br>
            <a:br>
              <a:rPr sz="1200" dirty="0"/>
            </a:br>
            <a:br>
              <a:rPr sz="1200" dirty="0"/>
            </a:br>
            <a:r>
              <a:rPr sz="1200" dirty="0"/>
              <a:t>cipher = AES.(</a:t>
            </a:r>
            <a:r>
              <a:rPr sz="1200" dirty="0" err="1"/>
              <a:t>aes_key</a:t>
            </a:r>
            <a:r>
              <a:rPr sz="1200" dirty="0"/>
              <a:t>, AES.MODE_CBC, iv)</a:t>
            </a:r>
            <a:br>
              <a:rPr sz="1200" dirty="0"/>
            </a:br>
            <a:r>
              <a:rPr sz="1200" dirty="0"/>
              <a:t>ciphertext = cipher.((data, ))</a:t>
            </a:r>
            <a:br>
              <a:rPr sz="1200" dirty="0"/>
            </a:br>
            <a:br>
              <a:rPr sz="1200" dirty="0"/>
            </a:br>
            <a:br>
              <a:rPr sz="1200" dirty="0"/>
            </a:br>
            <a:r>
              <a:rPr sz="1200" dirty="0"/>
              <a:t>mac = </a:t>
            </a:r>
            <a:r>
              <a:rPr sz="1200" dirty="0" err="1"/>
              <a:t>hmac</a:t>
            </a:r>
            <a:r>
              <a:rPr sz="1200" dirty="0"/>
              <a:t>.(</a:t>
            </a:r>
            <a:r>
              <a:rPr sz="1200" dirty="0" err="1"/>
              <a:t>aes_key</a:t>
            </a:r>
            <a:r>
              <a:rPr sz="1200" dirty="0"/>
              <a:t>, </a:t>
            </a:r>
            <a:r>
              <a:rPr sz="1200" dirty="0" err="1"/>
              <a:t>iv+ciphertext</a:t>
            </a:r>
            <a:r>
              <a:rPr sz="1200" dirty="0"/>
              <a:t>,</a:t>
            </a:r>
            <a:br>
              <a:rPr sz="1200" dirty="0"/>
            </a:br>
            <a:r>
              <a:rPr sz="1200" dirty="0"/>
              <a:t>              hashlib.sha256).()</a:t>
            </a:r>
            <a:br>
              <a:rPr sz="1200" dirty="0"/>
            </a:br>
            <a:br>
              <a:rPr sz="1200" dirty="0"/>
            </a:br>
            <a:br>
              <a:rPr sz="1200" dirty="0"/>
            </a:br>
            <a:r>
              <a:rPr sz="1200" dirty="0" err="1"/>
              <a:t>rsa_key</a:t>
            </a:r>
            <a:r>
              <a:rPr sz="1200" dirty="0"/>
              <a:t> = RSA.(</a:t>
            </a:r>
            <a:r>
              <a:rPr sz="1200" dirty="0" err="1"/>
              <a:t>pub_pem</a:t>
            </a:r>
            <a:r>
              <a:rPr sz="1200" dirty="0"/>
              <a:t>)</a:t>
            </a:r>
            <a:br>
              <a:rPr sz="1200" dirty="0"/>
            </a:br>
            <a:r>
              <a:rPr sz="1200" dirty="0" err="1"/>
              <a:t>cipher_rsa</a:t>
            </a:r>
            <a:r>
              <a:rPr sz="1200" dirty="0"/>
              <a:t> = PKCS1_OAEP.(</a:t>
            </a:r>
            <a:r>
              <a:rPr sz="1200" dirty="0" err="1"/>
              <a:t>rsa_key</a:t>
            </a:r>
            <a:r>
              <a:rPr sz="1200" dirty="0"/>
              <a:t>)</a:t>
            </a:r>
            <a:br>
              <a:rPr sz="1200" dirty="0"/>
            </a:br>
            <a:r>
              <a:rPr sz="1200" dirty="0" err="1"/>
              <a:t>enc_key</a:t>
            </a:r>
            <a:r>
              <a:rPr sz="1200" dirty="0"/>
              <a:t> = </a:t>
            </a:r>
            <a:r>
              <a:rPr sz="1200" dirty="0" err="1"/>
              <a:t>cipher_rsa</a:t>
            </a:r>
            <a:r>
              <a:rPr sz="1200" dirty="0"/>
              <a:t>.(</a:t>
            </a:r>
            <a:r>
              <a:rPr sz="1200" dirty="0" err="1"/>
              <a:t>aes_key</a:t>
            </a:r>
            <a:r>
              <a:rPr sz="1200"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4" y="1993403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Module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4" y="2360342"/>
            <a:ext cx="4629149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8B949E"/>
                </a:solidFill>
              </a:defRPr>
            </a:pPr>
            <a:r>
              <a:rPr sz="1200"/>
              <a:t>app.py           ← PyQt6 desktop app </a:t>
            </a:r>
            <a:br>
              <a:rPr sz="1200"/>
            </a:br>
            <a:r>
              <a:rPr sz="1200"/>
              <a:t>            hybrid_crypto.py ← Core engine</a:t>
            </a:r>
            <a:br>
              <a:rPr sz="1200"/>
            </a:br>
            <a:r>
              <a:rPr sz="1200"/>
              <a:t>            cli.py           ← Terminal CLI</a:t>
            </a:r>
            <a:br>
              <a:rPr sz="1200"/>
            </a:br>
            <a:r>
              <a:rPr sz="1200"/>
              <a:t>            test_crypto.py   ← 10 tests (all pass)</a:t>
            </a:r>
            <a:br>
              <a:rPr sz="1200"/>
            </a:br>
            <a:r>
              <a:rPr sz="1200"/>
              <a:t>            dist/HybridCrypto.exe ← Standalone .exe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4" y="4117478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4" y="4484417"/>
            <a:ext cx="4629149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rPr sz="1200"/>
              <a:t>• PyCryptodome 3.19+ (crypto primitives)</a:t>
            </a:r>
            <a:br>
              <a:rPr sz="1200"/>
            </a:br>
            <a:r>
              <a:rPr sz="1200"/>
              <a:t>            • PyQt6 6.6+ (desktop UI framework)</a:t>
            </a:r>
            <a:br>
              <a:rPr sz="1200"/>
            </a:br>
            <a:r>
              <a:rPr sz="1200"/>
              <a:t>            • PyInstaller (standalone .exe build)</a:t>
            </a:r>
            <a:br>
              <a:rPr sz="1200"/>
            </a:br>
            <a:r>
              <a:rPr sz="1200"/>
              <a:t>            • Python 3.8+ standard library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6_export-gfx-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893117"/>
            <a:ext cx="668982" cy="238125"/>
          </a:xfrm>
          <a:prstGeom prst="rect">
            <a:avLst/>
          </a:prstGeom>
        </p:spPr>
      </p:pic>
      <p:pic>
        <p:nvPicPr>
          <p:cNvPr id="4" name="Picture 3" descr="gfx_6_export-gfx-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007542"/>
            <a:ext cx="3428999" cy="3047702"/>
          </a:xfrm>
          <a:prstGeom prst="rect">
            <a:avLst/>
          </a:prstGeom>
        </p:spPr>
      </p:pic>
      <p:pic>
        <p:nvPicPr>
          <p:cNvPr id="5" name="Picture 4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4" y="2245667"/>
            <a:ext cx="3105149" cy="504825"/>
          </a:xfrm>
          <a:prstGeom prst="rect">
            <a:avLst/>
          </a:prstGeom>
        </p:spPr>
      </p:pic>
      <p:pic>
        <p:nvPicPr>
          <p:cNvPr id="6" name="Picture 5" descr="gfx_6_export-gfx-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4" y="3255317"/>
            <a:ext cx="3105149" cy="889545"/>
          </a:xfrm>
          <a:prstGeom prst="rect">
            <a:avLst/>
          </a:prstGeom>
        </p:spPr>
      </p:pic>
      <p:pic>
        <p:nvPicPr>
          <p:cNvPr id="7" name="Picture 6" descr="gfx_6_export-gfx-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499" y="2007542"/>
            <a:ext cx="3428999" cy="3047702"/>
          </a:xfrm>
          <a:prstGeom prst="rect">
            <a:avLst/>
          </a:prstGeom>
        </p:spPr>
      </p:pic>
      <p:pic>
        <p:nvPicPr>
          <p:cNvPr id="8" name="Picture 7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4" y="2245667"/>
            <a:ext cx="3105149" cy="504825"/>
          </a:xfrm>
          <a:prstGeom prst="rect">
            <a:avLst/>
          </a:prstGeom>
        </p:spPr>
      </p:pic>
      <p:pic>
        <p:nvPicPr>
          <p:cNvPr id="9" name="Picture 8" descr="gfx_6_export-gfx-4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424" y="3255317"/>
            <a:ext cx="3105149" cy="1078110"/>
          </a:xfrm>
          <a:prstGeom prst="rect">
            <a:avLst/>
          </a:prstGeom>
        </p:spPr>
      </p:pic>
      <p:pic>
        <p:nvPicPr>
          <p:cNvPr id="10" name="Picture 9" descr="gfx_6_export-gfx-4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0999" y="2007542"/>
            <a:ext cx="3428999" cy="3047702"/>
          </a:xfrm>
          <a:prstGeom prst="rect">
            <a:avLst/>
          </a:prstGeom>
        </p:spPr>
      </p:pic>
      <p:pic>
        <p:nvPicPr>
          <p:cNvPr id="11" name="Picture 10" descr="gfx_1_export-gfx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2924" y="2245667"/>
            <a:ext cx="3105149" cy="504825"/>
          </a:xfrm>
          <a:prstGeom prst="rect">
            <a:avLst/>
          </a:prstGeom>
        </p:spPr>
      </p:pic>
      <p:pic>
        <p:nvPicPr>
          <p:cNvPr id="12" name="Picture 11" descr="gfx_6_export-gfx-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2924" y="3255317"/>
            <a:ext cx="3105149" cy="1078110"/>
          </a:xfrm>
          <a:prstGeom prst="rect">
            <a:avLst/>
          </a:prstGeom>
        </p:spPr>
      </p:pic>
      <p:pic>
        <p:nvPicPr>
          <p:cNvPr id="13" name="Picture 12" descr="gfx_6_export-gfx-5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999" y="5245744"/>
            <a:ext cx="10667999" cy="7191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1999" y="946335"/>
            <a:ext cx="66898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3FB950"/>
                </a:solidFill>
              </a:defRPr>
            </a:pPr>
            <a:r>
              <a:rPr dirty="0"/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99" y="1245542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4" y="2245667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4" y="2864792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Step 1: Key 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286" y="3424684"/>
            <a:ext cx="3105149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25">
                <a:solidFill>
                  <a:srgbClr val="E6EDF3"/>
                </a:solidFill>
              </a:defRPr>
            </a:pPr>
            <a:r>
              <a:rPr sz="1050"/>
              <a:t>python cli.py keygen \</a:t>
            </a:r>
            <a:br>
              <a:rPr sz="1050"/>
            </a:br>
            <a:r>
              <a:rPr sz="1050"/>
              <a:t>  --private keys/private.pem \</a:t>
            </a:r>
            <a:br>
              <a:rPr sz="1050"/>
            </a:br>
            <a:r>
              <a:rPr sz="1050"/>
              <a:t>  --public  keys/public.pem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4" y="4240113"/>
            <a:ext cx="3105149" cy="289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8B949E"/>
                </a:solidFill>
              </a:defRPr>
            </a:pPr>
            <a:r>
              <a:t>Generates RSA-2048 key pair with SHA-256 fingerprint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3424" y="2245667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3424" y="2864792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E3B341"/>
                </a:solidFill>
              </a:defRPr>
            </a:pPr>
            <a:r>
              <a:t>Step 2: Encrypt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1786" y="3424684"/>
            <a:ext cx="310514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25">
                <a:solidFill>
                  <a:srgbClr val="E6EDF3"/>
                </a:solidFill>
              </a:defRPr>
            </a:pPr>
            <a:r>
              <a:rPr sz="1050"/>
              <a:t>python cli.py encrypt \</a:t>
            </a:r>
            <a:br>
              <a:rPr sz="1050"/>
            </a:br>
            <a:r>
              <a:rPr sz="1050"/>
              <a:t>  --input  secret.txt \</a:t>
            </a:r>
            <a:br>
              <a:rPr sz="1050"/>
            </a:br>
            <a:r>
              <a:rPr sz="1050"/>
              <a:t>  --output secret.enc \</a:t>
            </a:r>
            <a:br>
              <a:rPr sz="1050"/>
            </a:br>
            <a:r>
              <a:rPr sz="1050"/>
              <a:t>  --key    keys/public.pem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3424" y="4428678"/>
            <a:ext cx="3105149" cy="4836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8B949E"/>
                </a:solidFill>
              </a:defRPr>
            </a:pPr>
            <a:r>
              <a:t>Produces encrypted .enc bundle unreadable without private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2924" y="2245667"/>
            <a:ext cx="3105149" cy="600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>
                <a:solidFill>
                  <a:srgbClr val="F0F6FC"/>
                </a:solidFill>
              </a:defRPr>
            </a:pPr>
            <a:r>
              <a:t>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2924" y="2864792"/>
            <a:ext cx="3105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Step 3: Decrypt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1286" y="3424684"/>
            <a:ext cx="3105149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25">
                <a:solidFill>
                  <a:srgbClr val="E6EDF3"/>
                </a:solidFill>
              </a:defRPr>
            </a:pPr>
            <a:r>
              <a:rPr sz="1050"/>
              <a:t>python cli.py decrypt \</a:t>
            </a:r>
            <a:br>
              <a:rPr sz="1050"/>
            </a:br>
            <a:r>
              <a:rPr sz="1050"/>
              <a:t>  --input  secret.enc \</a:t>
            </a:r>
            <a:br>
              <a:rPr sz="1050"/>
            </a:br>
            <a:r>
              <a:rPr sz="1050"/>
              <a:t>  --output recovered.txt \</a:t>
            </a:r>
            <a:br>
              <a:rPr sz="1050"/>
            </a:br>
            <a:r>
              <a:rPr sz="1050"/>
              <a:t>  --key    keys/private.pem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2924" y="4428678"/>
            <a:ext cx="3105149" cy="289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8B949E"/>
                </a:solidFill>
              </a:defRPr>
            </a:pPr>
            <a:r>
              <a:t>HMAC verified first; plaintext restored if integrity 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4" y="5483869"/>
            <a:ext cx="1011554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25">
                <a:solidFill>
                  <a:srgbClr val="8B949E"/>
                </a:solidFill>
              </a:defRPr>
            </a:pPr>
            <a:r>
              <a:rPr sz="1400"/>
              <a:t>Flip bits in .enc file →  → Decryption aborted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7_export-gfx-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338857"/>
            <a:ext cx="937170" cy="238125"/>
          </a:xfrm>
          <a:prstGeom prst="rect">
            <a:avLst/>
          </a:prstGeom>
        </p:spPr>
      </p:pic>
      <p:pic>
        <p:nvPicPr>
          <p:cNvPr id="4" name="Picture 3" descr="gfx_7_export-gfx-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453282"/>
            <a:ext cx="5181599" cy="3065859"/>
          </a:xfrm>
          <a:prstGeom prst="rect">
            <a:avLst/>
          </a:prstGeom>
        </p:spPr>
      </p:pic>
      <p:pic>
        <p:nvPicPr>
          <p:cNvPr id="5" name="Picture 4" descr="gfx_7_export-gfx-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399" y="2453282"/>
            <a:ext cx="5181599" cy="1663898"/>
          </a:xfrm>
          <a:prstGeom prst="rect">
            <a:avLst/>
          </a:prstGeom>
        </p:spPr>
      </p:pic>
      <p:pic>
        <p:nvPicPr>
          <p:cNvPr id="6" name="Picture 5" descr="gfx_7_export-gfx-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4" y="3043832"/>
            <a:ext cx="4629149" cy="529530"/>
          </a:xfrm>
          <a:prstGeom prst="rect">
            <a:avLst/>
          </a:prstGeom>
        </p:spPr>
      </p:pic>
      <p:pic>
        <p:nvPicPr>
          <p:cNvPr id="7" name="Picture 6" descr="gfx_7_export-gfx-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399" y="4269581"/>
            <a:ext cx="5181599" cy="1249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999" y="1392075"/>
            <a:ext cx="93717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BC8CFF"/>
                </a:solidFill>
              </a:defRPr>
            </a:pPr>
            <a:r>
              <a:t>GUI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99" y="1691282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4" y="2691407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</a:defRPr>
            </a:pPr>
            <a:r>
              <a:t>User-Friendly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4" y="3120032"/>
            <a:ext cx="4629149" cy="645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75">
                <a:solidFill>
                  <a:srgbClr val="8B949E"/>
                </a:solidFill>
              </a:defRPr>
            </a:pPr>
            <a:r>
              <a:t>We built a fully featured PyQt6 Desktop Application to make encryption accessible to non-technical users.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8724" y="3784699"/>
            <a:ext cx="4438649" cy="335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t>Real-time system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8724" y="4024610"/>
            <a:ext cx="4438649" cy="335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t>One-click RSA key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8724" y="4264521"/>
            <a:ext cx="4438649" cy="335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t>Easy browse for files &amp;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4" y="4504432"/>
            <a:ext cx="4438649" cy="335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>
                <a:solidFill>
                  <a:srgbClr val="F0F6FC"/>
                </a:solidFill>
              </a:defRPr>
            </a:pPr>
            <a:r>
              <a:t>See background tasks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4" y="2691407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Standalone Executable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4" y="3222838"/>
            <a:ext cx="462914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E6EDF3"/>
                </a:solidFill>
              </a:defRPr>
            </a:pPr>
            <a:r>
              <a:rPr sz="1200"/>
              <a:t>dist\HybridCrypto.exe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4" y="3668613"/>
            <a:ext cx="4629149" cy="3056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t>No Python installation required. Double-click to run on any Windows machine.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4" y="4507706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Threaded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4" y="4860131"/>
            <a:ext cx="4629149" cy="5161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t>Heavy cryptographic tasks run on background threads, ensuring the UI remains perfectly smooth and responsive.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8_export-gfx-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895350"/>
            <a:ext cx="858142" cy="238125"/>
          </a:xfrm>
          <a:prstGeom prst="rect">
            <a:avLst/>
          </a:prstGeom>
        </p:spPr>
      </p:pic>
      <p:pic>
        <p:nvPicPr>
          <p:cNvPr id="4" name="Picture 3" descr="gfx_8_export-gfx-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009775"/>
            <a:ext cx="5181599" cy="3952874"/>
          </a:xfrm>
          <a:prstGeom prst="rect">
            <a:avLst/>
          </a:prstGeom>
        </p:spPr>
      </p:pic>
      <p:pic>
        <p:nvPicPr>
          <p:cNvPr id="5" name="Picture 4" descr="gfx_8_export-gfx-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4" y="2676525"/>
            <a:ext cx="4629149" cy="3047999"/>
          </a:xfrm>
          <a:prstGeom prst="rect">
            <a:avLst/>
          </a:prstGeom>
        </p:spPr>
      </p:pic>
      <p:pic>
        <p:nvPicPr>
          <p:cNvPr id="6" name="Picture 5" descr="gfx_8_export-gfx-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399" y="2009775"/>
            <a:ext cx="5181599" cy="2543175"/>
          </a:xfrm>
          <a:prstGeom prst="rect">
            <a:avLst/>
          </a:prstGeom>
        </p:spPr>
      </p:pic>
      <p:pic>
        <p:nvPicPr>
          <p:cNvPr id="7" name="Picture 6" descr="gfx_8_export-gfx-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4" y="2847975"/>
            <a:ext cx="4629149" cy="76200"/>
          </a:xfrm>
          <a:prstGeom prst="rect">
            <a:avLst/>
          </a:prstGeom>
        </p:spPr>
      </p:pic>
      <p:pic>
        <p:nvPicPr>
          <p:cNvPr id="8" name="Picture 7" descr="gfx_8_export-gfx-6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4" y="3267075"/>
            <a:ext cx="4629149" cy="76200"/>
          </a:xfrm>
          <a:prstGeom prst="rect">
            <a:avLst/>
          </a:prstGeom>
        </p:spPr>
      </p:pic>
      <p:pic>
        <p:nvPicPr>
          <p:cNvPr id="9" name="Picture 8" descr="gfx_8_export-gfx-6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4" y="3686175"/>
            <a:ext cx="4629149" cy="76200"/>
          </a:xfrm>
          <a:prstGeom prst="rect">
            <a:avLst/>
          </a:prstGeom>
        </p:spPr>
      </p:pic>
      <p:pic>
        <p:nvPicPr>
          <p:cNvPr id="10" name="Picture 9" descr="gfx_8_export-gfx-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4" y="4105274"/>
            <a:ext cx="4629149" cy="76200"/>
          </a:xfrm>
          <a:prstGeom prst="rect">
            <a:avLst/>
          </a:prstGeom>
        </p:spPr>
      </p:pic>
      <p:pic>
        <p:nvPicPr>
          <p:cNvPr id="11" name="Picture 10" descr="gfx_8_export-gfx-6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399" y="4705350"/>
            <a:ext cx="5181599" cy="11446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1999" y="948568"/>
            <a:ext cx="85814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3FB950"/>
                </a:solidFill>
              </a:defRPr>
            </a:pPr>
            <a:r>
              <a:rPr dirty="0"/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247775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4" y="224790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Test Suite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8" y="2776708"/>
            <a:ext cx="3256359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58A6FF"/>
                </a:solidFill>
              </a:defRPr>
            </a:pPr>
            <a:r>
              <a:t>Test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3558" y="2776708"/>
            <a:ext cx="137279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 b="1">
                <a:solidFill>
                  <a:srgbClr val="58A6FF"/>
                </a:solidFill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8" y="3167233"/>
            <a:ext cx="3256359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Empty file (0 bytes)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3558" y="3167233"/>
            <a:ext cx="137279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8" y="3543470"/>
            <a:ext cx="3256359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Small text (27 bytes)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3558" y="3543470"/>
            <a:ext cx="137279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8" y="3924470"/>
            <a:ext cx="3256359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Multiline text (440 bytes)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3558" y="3924470"/>
            <a:ext cx="137279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8" y="4305470"/>
            <a:ext cx="3256359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Binary data (4 KB)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3558" y="4305470"/>
            <a:ext cx="137279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8" y="4686470"/>
            <a:ext cx="3256359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Large file (512 KB)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3558" y="4686470"/>
            <a:ext cx="137279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8" y="5067470"/>
            <a:ext cx="3256359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Tamper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3558" y="5067470"/>
            <a:ext cx="137279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8" y="5448470"/>
            <a:ext cx="3256359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SHA-256 hash 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13558" y="5448470"/>
            <a:ext cx="1372790" cy="1500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75">
                <a:solidFill>
                  <a:srgbClr val="F0F6FC"/>
                </a:solidFill>
              </a:defRPr>
            </a:pPr>
            <a:r>
              <a:t>PASS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4" y="2247900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3B341"/>
                </a:solidFill>
              </a:defRPr>
            </a:pPr>
            <a: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4624" y="2638425"/>
            <a:ext cx="1535161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Key Generation (2048-bit)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4119" y="2638425"/>
            <a:ext cx="329654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58A6FF"/>
                </a:solidFill>
              </a:defRPr>
            </a:pPr>
            <a:r>
              <a:t>~0.5s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4" y="3057525"/>
            <a:ext cx="115371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 MB file encryption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6117" y="3057525"/>
            <a:ext cx="297656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&lt;0.1s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624" y="3476625"/>
            <a:ext cx="1156394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 MB file decryption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6117" y="3476625"/>
            <a:ext cx="297656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&lt;0.1s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624" y="3895725"/>
            <a:ext cx="130998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100 MB file encryption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6798" y="3895725"/>
            <a:ext cx="32697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E3B341"/>
                </a:solidFill>
              </a:defRPr>
            </a:pPr>
            <a:r>
              <a:t>~3.5s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4624" y="4943475"/>
            <a:ext cx="462914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rPr sz="1200"/>
              <a:t>✓ SHA-256 hashes match before/after in  test cases</a:t>
            </a:r>
            <a:br>
              <a:rPr sz="1200"/>
            </a:br>
            <a:r>
              <a:rPr sz="1200"/>
              <a:t>            ✓ All  pass (0 failures)</a:t>
            </a:r>
            <a:br>
              <a:rPr sz="1200"/>
            </a:br>
            <a:r>
              <a:rPr sz="1200"/>
              <a:t>            ✓ Supports text, binary, PDF, image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9_export-gfx-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037629"/>
            <a:ext cx="938510" cy="238125"/>
          </a:xfrm>
          <a:prstGeom prst="rect">
            <a:avLst/>
          </a:prstGeom>
        </p:spPr>
      </p:pic>
      <p:pic>
        <p:nvPicPr>
          <p:cNvPr id="4" name="Picture 3" descr="gfx_9_export-gfx-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" y="2152054"/>
            <a:ext cx="5181599" cy="3668315"/>
          </a:xfrm>
          <a:prstGeom prst="rect">
            <a:avLst/>
          </a:prstGeom>
        </p:spPr>
      </p:pic>
      <p:pic>
        <p:nvPicPr>
          <p:cNvPr id="5" name="Picture 4" descr="gfx_9_export-gfx-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4" y="3009304"/>
            <a:ext cx="4629149" cy="76200"/>
          </a:xfrm>
          <a:prstGeom prst="rect">
            <a:avLst/>
          </a:prstGeom>
        </p:spPr>
      </p:pic>
      <p:pic>
        <p:nvPicPr>
          <p:cNvPr id="6" name="Picture 5" descr="gfx_9_export-gfx-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4" y="3428404"/>
            <a:ext cx="4629149" cy="76200"/>
          </a:xfrm>
          <a:prstGeom prst="rect">
            <a:avLst/>
          </a:prstGeom>
        </p:spPr>
      </p:pic>
      <p:pic>
        <p:nvPicPr>
          <p:cNvPr id="7" name="Picture 6" descr="gfx_9_export-gfx-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4" y="3847504"/>
            <a:ext cx="4629149" cy="76200"/>
          </a:xfrm>
          <a:prstGeom prst="rect">
            <a:avLst/>
          </a:prstGeom>
        </p:spPr>
      </p:pic>
      <p:pic>
        <p:nvPicPr>
          <p:cNvPr id="8" name="Picture 7" descr="gfx_9_export-gfx-7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4" y="4266604"/>
            <a:ext cx="4629149" cy="76200"/>
          </a:xfrm>
          <a:prstGeom prst="rect">
            <a:avLst/>
          </a:prstGeom>
        </p:spPr>
      </p:pic>
      <p:pic>
        <p:nvPicPr>
          <p:cNvPr id="9" name="Picture 8" descr="gfx_9_export-gfx-6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4" y="4685704"/>
            <a:ext cx="4629149" cy="76200"/>
          </a:xfrm>
          <a:prstGeom prst="rect">
            <a:avLst/>
          </a:prstGeom>
        </p:spPr>
      </p:pic>
      <p:pic>
        <p:nvPicPr>
          <p:cNvPr id="10" name="Picture 9" descr="gfx_9_export-gfx-7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399" y="2152054"/>
            <a:ext cx="5181599" cy="1757957"/>
          </a:xfrm>
          <a:prstGeom prst="rect">
            <a:avLst/>
          </a:prstGeom>
        </p:spPr>
      </p:pic>
      <p:pic>
        <p:nvPicPr>
          <p:cNvPr id="11" name="Picture 10" descr="gfx_9_export-gfx-7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399" y="4062412"/>
            <a:ext cx="5181599" cy="17579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1999" y="1095685"/>
            <a:ext cx="93851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99" y="1390054"/>
            <a:ext cx="10667999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850" b="1">
                <a:solidFill>
                  <a:srgbClr val="F0F6FC"/>
                </a:solidFill>
              </a:defRPr>
            </a:pPr>
            <a:r>
              <a:rPr dirty="0"/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4" y="2390179"/>
            <a:ext cx="4629149" cy="371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rPr dirty="0"/>
              <a:t>Strengths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4" y="2799754"/>
            <a:ext cx="1955303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Brute-force resistance (AES-256)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494" y="2799754"/>
            <a:ext cx="28188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4" y="3218854"/>
            <a:ext cx="2056804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Key exchange security (RSA-2048)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7663" y="3218854"/>
            <a:ext cx="309711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rPr dirty="0"/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4" y="3637954"/>
            <a:ext cx="2066776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Tamper detection (HMAC-SHA256)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494" y="3637954"/>
            <a:ext cx="28188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4" y="4057054"/>
            <a:ext cx="1971079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Padding oracle resistance (OAEP)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7663" y="4057054"/>
            <a:ext cx="309711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224" y="4476154"/>
            <a:ext cx="1939825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F0F6FC"/>
                </a:solidFill>
              </a:defRPr>
            </a:pPr>
            <a:r>
              <a:t>Pattern concealment (random IV)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494" y="4476154"/>
            <a:ext cx="281880" cy="247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3FB950"/>
                </a:solidFill>
              </a:defRPr>
            </a:pPr>
            <a:r>
              <a:rPr dirty="0"/>
              <a:t>MAX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4" y="2390179"/>
            <a:ext cx="4629149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E3B341"/>
                </a:solidFill>
              </a:defRPr>
            </a:pPr>
            <a:r>
              <a:rPr dirty="0"/>
              <a:t>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4" y="2780704"/>
            <a:ext cx="4629149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rPr sz="1100" dirty="0"/>
              <a:t>• Private key stored unencrypted on disk</a:t>
            </a:r>
            <a:br>
              <a:rPr sz="1100" dirty="0"/>
            </a:br>
            <a:r>
              <a:rPr sz="1100" dirty="0"/>
              <a:t>            • No perfect forward secrecy (RSA reuse)</a:t>
            </a:r>
            <a:br>
              <a:rPr sz="1100" dirty="0"/>
            </a:br>
            <a:r>
              <a:rPr sz="1100" dirty="0"/>
              <a:t>            • No key revocation mechanism</a:t>
            </a:r>
            <a:br>
              <a:rPr sz="1100" dirty="0"/>
            </a:br>
            <a:r>
              <a:rPr sz="1100" dirty="0"/>
              <a:t>            • Single-recipient encryption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4" y="4300537"/>
            <a:ext cx="4629149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rPr dirty="0"/>
              <a:t>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624" y="4691062"/>
            <a:ext cx="4629149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75">
                <a:solidFill>
                  <a:srgbClr val="8B949E"/>
                </a:solidFill>
              </a:defRPr>
            </a:pPr>
            <a:r>
              <a:rPr sz="1100"/>
              <a:t>• Passphrase-protected private key (AES-256-GCM wrapping)</a:t>
            </a:r>
            <a:br>
              <a:rPr sz="1100"/>
            </a:br>
            <a:r>
              <a:rPr sz="1100"/>
              <a:t>            • Digital signatures (RSA + SHA-256)</a:t>
            </a:r>
            <a:br>
              <a:rPr sz="1100"/>
            </a:br>
            <a:r>
              <a:rPr sz="1100"/>
              <a:t>            • Elliptic Curve Cryptography (ECDH)</a:t>
            </a:r>
            <a:br>
              <a:rPr sz="1100"/>
            </a:br>
            <a:r>
              <a:rPr sz="1100"/>
              <a:t>            • Multi-recipient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gfx_10_export-gfx-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49" y="3785741"/>
            <a:ext cx="2095499" cy="1476375"/>
          </a:xfrm>
          <a:prstGeom prst="rect">
            <a:avLst/>
          </a:prstGeom>
        </p:spPr>
      </p:pic>
      <p:pic>
        <p:nvPicPr>
          <p:cNvPr id="4" name="Picture 3" descr="gfx_10_export-gfx-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49" y="3785741"/>
            <a:ext cx="2095499" cy="1476375"/>
          </a:xfrm>
          <a:prstGeom prst="rect">
            <a:avLst/>
          </a:prstGeom>
        </p:spPr>
      </p:pic>
      <p:pic>
        <p:nvPicPr>
          <p:cNvPr id="5" name="Picture 4" descr="gfx_10_export-gfx-7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49" y="3785741"/>
            <a:ext cx="2095499" cy="1476375"/>
          </a:xfrm>
          <a:prstGeom prst="rect">
            <a:avLst/>
          </a:prstGeom>
        </p:spPr>
      </p:pic>
      <p:pic>
        <p:nvPicPr>
          <p:cNvPr id="6" name="Picture 5" descr="gfx_0_export-gfx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499" y="5566916"/>
            <a:ext cx="2666999" cy="19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42048" y="778668"/>
            <a:ext cx="1307901" cy="1362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500">
                <a:solidFill>
                  <a:srgbClr val="F0F6FC"/>
                </a:solidFill>
              </a:defRPr>
            </a:pPr>
            <a:r>
              <a:rPr dirty="0"/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1196" y="2045493"/>
            <a:ext cx="4469605" cy="631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840" b="1">
                <a:solidFill>
                  <a:srgbClr val="F0F6FC"/>
                </a:solidFill>
              </a:defRPr>
            </a:pPr>
            <a:r>
              <a:rPr dirty="0"/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499" y="2696170"/>
            <a:ext cx="6476999" cy="918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8B949E"/>
                </a:solidFill>
              </a:defRPr>
            </a:pPr>
            <a:r>
              <a:rPr dirty="0"/>
              <a:t>We successfully implemented a  combining RSA-2048, AES-256-CBC, and HMAC-SHA256. The system provides confidentiality, integrity, and authenticity for any file 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5938" y="5852666"/>
            <a:ext cx="2880121" cy="321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50">
                <a:solidFill>
                  <a:srgbClr val="8B949E"/>
                </a:solidFill>
              </a:defRPr>
            </a:pPr>
            <a:r>
              <a:rPr dirty="0"/>
              <a:t>Information Security — Group Project  | 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1041</Words>
  <Application>Microsoft Office PowerPoint</Application>
  <PresentationFormat>Widescreen</PresentationFormat>
  <Paragraphs>167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FA23-BCS-167(WAQAS UL HASAN)</cp:lastModifiedBy>
  <cp:revision>3</cp:revision>
  <dcterms:created xsi:type="dcterms:W3CDTF">2013-01-27T09:14:16Z</dcterms:created>
  <dcterms:modified xsi:type="dcterms:W3CDTF">2026-05-24T19:35:39Z</dcterms:modified>
  <cp:category/>
</cp:coreProperties>
</file>